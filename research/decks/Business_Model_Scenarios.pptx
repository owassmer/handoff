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Handoff analysis, a monthly company model with 30,000 runs per path and 300 parameter draws.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Handoff analysis; base rates: ChartMogul (2025), Carta (Q3 2025), Incisive Ventures (2025), PitchBook via Causo (2025), CRV via Startupik (2026); multiples: 733Park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Handoff assumptions, drawn from TurnOps pricing, NARPM and NAA benchmarks, ChurnTools SMB churn data (2026) and Invitation Homes 2025 turnover.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Handoff analysis, 30,000 runs per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Handoff analysis, 30,000 runs per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Handoff analysis, 30,000 runs per path; Venn (GlobeNewswire, Sept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Handoff analysis, 30,000 runs per path and 300 parameter draws.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Handoff analysis, rank correlations across 300 parameter draws.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Handoff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783080"/>
            <a:ext cx="64008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29968"/>
            <a:ext cx="7315200" cy="21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64"/>
              </a:lnSpc>
            </a:pPr>
            <a:r>
              <a:rPr sz="1300" b="1" spc="156">
                <a:solidFill>
                  <a:srgbClr val="C3CCD7"/>
                </a:solidFill>
                <a:latin typeface="Arial"/>
              </a:rPr>
              <a:t>SCENARIO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95728"/>
            <a:ext cx="973808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480"/>
              </a:lnSpc>
            </a:pPr>
            <a:r>
              <a:rPr sz="6000" b="0">
                <a:solidFill>
                  <a:srgbClr val="FFFFFF"/>
                </a:solidFill>
                <a:latin typeface="Georgia"/>
              </a:rPr>
              <a:t>Business model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11296"/>
            <a:ext cx="5959932" cy="1072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C3CCD7"/>
                </a:solidFill>
                <a:latin typeface="Arial"/>
              </a:rPr>
              <a:t>Nine ways a company can build in the move-out market, and the modelled odds of revenue, funding and exit for each, 2026 to 2032.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5897880"/>
            <a:ext cx="10820095" cy="0"/>
          </a:xfrm>
          <a:prstGeom prst="line">
            <a:avLst/>
          </a:prstGeom>
          <a:ln w="9525">
            <a:solidFill>
              <a:srgbClr val="2A3A4E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85800" y="60350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92"/>
              </a:lnSpc>
            </a:pPr>
            <a:r>
              <a:rPr sz="1400" b="0">
                <a:solidFill>
                  <a:srgbClr val="C3CCD7"/>
                </a:solidFill>
                <a:latin typeface="Arial"/>
              </a:rPr>
              <a:t>Handoff · September 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6519242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Selling a completed move-out gives the best odds of revenue and funding.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Source: Handoff analysis, a monthly company model with 30,000 runs per path and 300 parameter draws.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Business model scenarios   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2039112"/>
            <a:ext cx="5135727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85800" y="2221992"/>
            <a:ext cx="5669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C2410C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221992"/>
            <a:ext cx="4568799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620264"/>
            <a:ext cx="4568799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Service paths get a paying customer within 12 months 88–89% of the time, against 76% for software.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70167" y="2039112"/>
            <a:ext cx="5135728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370167" y="2221992"/>
            <a:ext cx="5669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C2410C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7095" y="2221992"/>
            <a:ext cx="4568799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Funding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7095" y="2620264"/>
            <a:ext cx="4568799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Service first, then software, leads: 42% reach $1M in annual revenue by month 36, and 52% raise a seed round.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818128"/>
            <a:ext cx="5135727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5800" y="4001008"/>
            <a:ext cx="5669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C2410C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4001008"/>
            <a:ext cx="4568799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Exit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4399280"/>
            <a:ext cx="4568799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Exits are modest on every path. The likely exit is a sale to a larger platform.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70167" y="3818128"/>
            <a:ext cx="5135728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370167" y="4001008"/>
            <a:ext cx="5669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C2410C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7095" y="4001008"/>
            <a:ext cx="4568799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Direction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7095" y="4399280"/>
            <a:ext cx="4568799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Growing deeper into the tenancy beats adding owner projects or maintenance.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THE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5868839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Nine paths combine a business shape with a direction for growth.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Business model scenarios   3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39112"/>
            <a:ext cx="2003084" cy="2452116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39112"/>
            <a:ext cx="2003084" cy="4572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545884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sz="2200" b="0">
                <a:solidFill>
                  <a:srgbClr val="15202B"/>
                </a:solidFill>
                <a:latin typeface="Georgia"/>
              </a:rPr>
              <a:t>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85288"/>
            <a:ext cx="1545884" cy="1399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9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Tenancy depth</a:t>
            </a:r>
          </a:p>
          <a:p>
            <a:pPr algn="l">
              <a:lnSpc>
                <a:spcPts val="2304"/>
              </a:lnSpc>
              <a:spcAft>
                <a:spcPts val="9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Maintenance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Owner projects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90052" y="2039112"/>
            <a:ext cx="2003084" cy="2452116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90052" y="2039112"/>
            <a:ext cx="2003084" cy="4572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652" y="2240280"/>
            <a:ext cx="1545884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sz="2200" b="0">
                <a:solidFill>
                  <a:srgbClr val="15202B"/>
                </a:solidFill>
                <a:latin typeface="Georgia"/>
              </a:rPr>
              <a:t>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652" y="2685288"/>
            <a:ext cx="1545884" cy="1577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9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Tenancy depth, priced per move-out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Turns and owner projects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94305" y="2039112"/>
            <a:ext cx="2003084" cy="2452116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94305" y="2039112"/>
            <a:ext cx="2003084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2905" y="2240280"/>
            <a:ext cx="1545884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sz="2200" b="0">
                <a:solidFill>
                  <a:srgbClr val="15202B"/>
                </a:solidFill>
                <a:latin typeface="Georgia"/>
              </a:rPr>
              <a:t>Service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2905" y="2685288"/>
            <a:ext cx="1545884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Tenancy depth, then software as the work is automated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98557" y="2039112"/>
            <a:ext cx="2003084" cy="2452116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98557" y="2039112"/>
            <a:ext cx="2003084" cy="4572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7157" y="2240280"/>
            <a:ext cx="1545884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sz="2200" b="0">
                <a:solidFill>
                  <a:srgbClr val="15202B"/>
                </a:solidFill>
                <a:latin typeface="Georgia"/>
              </a:rPr>
              <a:t>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7157" y="2685288"/>
            <a:ext cx="1545884" cy="12847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9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Platforms and deposit insurers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Consolidators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2810" y="2039112"/>
            <a:ext cx="2003084" cy="2452116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2810" y="2039112"/>
            <a:ext cx="2003084" cy="4572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1410" y="2240280"/>
            <a:ext cx="1545884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sz="2200" b="0">
                <a:solidFill>
                  <a:srgbClr val="15202B"/>
                </a:solidFill>
                <a:latin typeface="Georgia"/>
              </a:rPr>
              <a:t>Operator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1410" y="2685288"/>
            <a:ext cx="1545884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Buy a small management firm and run it on Handoff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875276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856988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Tenancy depth: the move-in record, the turn and the settlement for the same manager.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7585266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Each simulated company runs month by month from October 2026 to October 2032.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Handoff analysis; base rates: ChartMogul (2025), Carta (Q3 2025), Incisive Ventures (2025), PitchBook via Causo (2025), CRV via Startupik (2026); multiples: 733Park (2026).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Business model scenarios   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39112"/>
            <a:ext cx="1498549" cy="6858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167128"/>
            <a:ext cx="1242517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04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First sale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71216"/>
            <a:ext cx="1452829" cy="1755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Monthly odds depend on the shape. None by month 18 ends the run.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30069" y="2382012"/>
            <a:ext cx="292608" cy="0"/>
          </a:xfrm>
          <a:prstGeom prst="line">
            <a:avLst/>
          </a:prstGeom>
          <a:ln w="28575">
            <a:solidFill>
              <a:srgbClr val="5B6573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2550109" y="2039112"/>
            <a:ext cx="1498549" cy="6858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8125" y="2167128"/>
            <a:ext cx="1242517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04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0109" y="2871216"/>
            <a:ext cx="1452829" cy="1755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Sales and referrals add customers; some churn.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94378" y="2382012"/>
            <a:ext cx="292608" cy="0"/>
          </a:xfrm>
          <a:prstGeom prst="line">
            <a:avLst/>
          </a:prstGeom>
          <a:ln w="28575">
            <a:solidFill>
              <a:srgbClr val="5B6573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4414418" y="2039112"/>
            <a:ext cx="1498549" cy="6858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2434" y="2167128"/>
            <a:ext cx="1242517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04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4418" y="2871216"/>
            <a:ext cx="1452829" cy="1755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Starts after 12 months with three customers or more.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58687" y="2382012"/>
            <a:ext cx="292608" cy="0"/>
          </a:xfrm>
          <a:prstGeom prst="line">
            <a:avLst/>
          </a:prstGeom>
          <a:ln w="28575">
            <a:solidFill>
              <a:srgbClr val="5B6573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6278727" y="2039112"/>
            <a:ext cx="1498549" cy="6858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6743" y="2167128"/>
            <a:ext cx="1242517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04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Bundling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871216"/>
            <a:ext cx="1452829" cy="1755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A platform copies the product: sales fall 40%, prices 25%.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22996" y="2382012"/>
            <a:ext cx="292608" cy="0"/>
          </a:xfrm>
          <a:prstGeom prst="line">
            <a:avLst/>
          </a:prstGeom>
          <a:ln w="28575">
            <a:solidFill>
              <a:srgbClr val="5B6573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8143036" y="2039112"/>
            <a:ext cx="1498549" cy="6858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1052" y="2167128"/>
            <a:ext cx="1242517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04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Funding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3036" y="2871216"/>
            <a:ext cx="1452829" cy="1755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Seed at $400k in revenue, Series A at $2.5M.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87306" y="2382012"/>
            <a:ext cx="292608" cy="0"/>
          </a:xfrm>
          <a:prstGeom prst="line">
            <a:avLst/>
          </a:prstGeom>
          <a:ln w="28575">
            <a:solidFill>
              <a:srgbClr val="5B6573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10007346" y="2039112"/>
            <a:ext cx="1498549" cy="685800"/>
          </a:xfrm>
          <a:prstGeom prst="roundRect">
            <a:avLst>
              <a:gd name="adj" fmla="val 8000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35362" y="2167128"/>
            <a:ext cx="1242517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04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Exit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7346" y="2871216"/>
            <a:ext cx="1452829" cy="1755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A sale at the private multiple for its size.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010912"/>
            <a:ext cx="45720" cy="6136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992624"/>
            <a:ext cx="7022117" cy="65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Calibrated so a generic software company reproduces public odds of reaching $1M in revenue and raising each round.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7744336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Service earns more per move-out and churns less. Software keeps more of each dollar.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Source: Handoff assumptions, drawn from TurnOps pricing, NARPM and NAA benchmarks, ChurnTools SMB churn data (2026) and Invitation Homes 2025 turnover.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Business model scenarios   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5548486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ASSUMPTION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46" y="2039112"/>
            <a:ext cx="2155744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84390" y="2039112"/>
            <a:ext cx="2155744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SERVICE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325624"/>
            <a:ext cx="10820095" cy="0"/>
          </a:xfrm>
          <a:prstGeom prst="line">
            <a:avLst/>
          </a:prstGeom>
          <a:ln w="12700">
            <a:solidFill>
              <a:srgbClr val="15202B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22960" y="2453640"/>
            <a:ext cx="554848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Price per move-out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46" y="2453640"/>
            <a:ext cx="21557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$100–250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84390" y="2453640"/>
            <a:ext cx="21557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$250–450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837688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22960" y="2947416"/>
            <a:ext cx="554848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Monthly churn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046" y="2947416"/>
            <a:ext cx="21557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2–4.5%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4390" y="2947416"/>
            <a:ext cx="21557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1.2–3%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331464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22960" y="3441192"/>
            <a:ext cx="554848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Gross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46" y="3441192"/>
            <a:ext cx="21557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65–82%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4390" y="3441192"/>
            <a:ext cx="21557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35–65%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3825240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822960" y="3934968"/>
            <a:ext cx="554848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Yearly chance a platform bundles the 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0046" y="3934968"/>
            <a:ext cx="21557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15–35%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4390" y="3934968"/>
            <a:ext cx="21557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8–22%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703064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684776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A median client manages 400 homes turning 28% a year: about 112 move-outs.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03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800" b="1">
                <a:solidFill>
                  <a:srgbClr val="C2410C"/>
                </a:solidFill>
                <a:latin typeface="Arial"/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697480"/>
            <a:ext cx="640080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9197080" cy="6426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60"/>
              </a:lnSpc>
            </a:pPr>
            <a:r>
              <a:rPr sz="4600" b="0">
                <a:solidFill>
                  <a:srgbClr val="FFFFFF"/>
                </a:solidFill>
                <a:latin typeface="Georgia"/>
              </a:rPr>
              <a:t>What the odds 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3020"/>
            <a:ext cx="8046720" cy="357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C3CCD7"/>
                </a:solidFill>
                <a:latin typeface="Arial"/>
              </a:rPr>
              <a:t>Revenue, funding and exit for each path, and what moves 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8C99A8"/>
                </a:solidFill>
                <a:latin typeface="Arial"/>
              </a:rPr>
              <a:t>Business model scenarios   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6646232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Service paths are the most likely to get a paying customer within 12 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Source: Handoff analysis, 30,000 runs per 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Business model scenarios   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0" y="1993392"/>
            <a:ext cx="0" cy="2084832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572000" y="412394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0%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362623" y="1993392"/>
            <a:ext cx="0" cy="2084832"/>
          </a:xfrm>
          <a:prstGeom prst="line">
            <a:avLst/>
          </a:prstGeom>
          <a:ln w="9525">
            <a:solidFill>
              <a:srgbClr val="D9DDE2"/>
            </a:solidFill>
            <a:prstDash val="dash"/>
          </a:ln>
        </p:spPr>
      </p:cxnSp>
      <p:sp>
        <p:nvSpPr>
          <p:cNvPr id="9" name="TextBox 8"/>
          <p:cNvSpPr txBox="1"/>
          <p:nvPr/>
        </p:nvSpPr>
        <p:spPr>
          <a:xfrm>
            <a:off x="5905423" y="412394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25%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96047" y="1993392"/>
            <a:ext cx="0" cy="2084832"/>
          </a:xfrm>
          <a:prstGeom prst="line">
            <a:avLst/>
          </a:prstGeom>
          <a:ln w="9525">
            <a:solidFill>
              <a:srgbClr val="D9DDE2"/>
            </a:solidFill>
            <a:prstDash val="dash"/>
          </a:ln>
        </p:spPr>
      </p:cxnSp>
      <p:sp>
        <p:nvSpPr>
          <p:cNvPr id="11" name="TextBox 10"/>
          <p:cNvSpPr txBox="1"/>
          <p:nvPr/>
        </p:nvSpPr>
        <p:spPr>
          <a:xfrm>
            <a:off x="7238847" y="412394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50%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29471" y="1993392"/>
            <a:ext cx="0" cy="2084832"/>
          </a:xfrm>
          <a:prstGeom prst="line">
            <a:avLst/>
          </a:prstGeom>
          <a:ln w="9525">
            <a:solidFill>
              <a:srgbClr val="D9DDE2"/>
            </a:solidFill>
            <a:prstDash val="dash"/>
          </a:ln>
        </p:spPr>
      </p:cxnSp>
      <p:sp>
        <p:nvSpPr>
          <p:cNvPr id="13" name="TextBox 12"/>
          <p:cNvSpPr txBox="1"/>
          <p:nvPr/>
        </p:nvSpPr>
        <p:spPr>
          <a:xfrm>
            <a:off x="8572271" y="412394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75%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03911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Service paths (three)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039112"/>
            <a:ext cx="4746988" cy="2926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31052" y="2039112"/>
            <a:ext cx="94792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85916" y="2029968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88–89%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0604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Software for managers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606040"/>
            <a:ext cx="4053608" cy="292608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37672" y="2606040"/>
            <a:ext cx="56692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2536" y="2596896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76%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17296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Engines for platforms or consolidators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3172968"/>
            <a:ext cx="2666847" cy="292608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50911" y="3172968"/>
            <a:ext cx="94792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05775" y="3163824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46–50%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73989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Buying a management firm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3739896"/>
            <a:ext cx="533369" cy="292608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17433" y="3739896"/>
            <a:ext cx="56692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72297" y="3730752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10%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782312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764024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A service path ranks first on this measure in all 300 parameter draws.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FUNDING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6383251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Service first, then software, leads on revenue and on raising a seed round.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Source: Handoff analysis, 30,000 runs per 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Business model scenarios   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2039112"/>
            <a:ext cx="3581247" cy="260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8"/>
              </a:lnSpc>
            </a:pPr>
            <a:r>
              <a:rPr sz="1600" b="1">
                <a:solidFill>
                  <a:srgbClr val="46505C"/>
                </a:solidFill>
                <a:latin typeface="Arial"/>
              </a:rPr>
              <a:t>$1M in annual revenue by month 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647" y="2039112"/>
            <a:ext cx="3581247" cy="260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8"/>
              </a:lnSpc>
            </a:pPr>
            <a:r>
              <a:rPr sz="1600" b="1">
                <a:solidFill>
                  <a:srgbClr val="46505C"/>
                </a:solidFill>
                <a:latin typeface="Arial"/>
              </a:rPr>
              <a:t>A seed 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380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Service, then software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2472944"/>
            <a:ext cx="1898797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6437" y="2454656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42%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4647" y="2472944"/>
            <a:ext cx="2350891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6979" y="2454656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52%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39288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Service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2948432"/>
            <a:ext cx="1853587" cy="27432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1227" y="2930144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41%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4647" y="2948432"/>
            <a:ext cx="2305682" cy="27432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21770" y="2930144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51%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14776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Software, tenancy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3423920"/>
            <a:ext cx="1175445" cy="27432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53085" y="3405632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26%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4647" y="3423920"/>
            <a:ext cx="1627540" cy="27432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3628" y="3405632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36%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9026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Software, maintenance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86200" y="3899408"/>
            <a:ext cx="858979" cy="27432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36619" y="3881120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19%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4647" y="3899408"/>
            <a:ext cx="1356283" cy="27432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371" y="3881120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36575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Engine for platforms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4374896"/>
            <a:ext cx="632932" cy="27432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0572" y="4356608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14%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24647" y="4374896"/>
            <a:ext cx="1085027" cy="27432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01114" y="4356608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24%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886200" y="2390648"/>
            <a:ext cx="0" cy="2340864"/>
          </a:xfrm>
          <a:prstGeom prst="line">
            <a:avLst/>
          </a:prstGeom>
          <a:ln w="12700">
            <a:solidFill>
              <a:srgbClr val="7B859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7924647" y="2390648"/>
            <a:ext cx="0" cy="2340864"/>
          </a:xfrm>
          <a:prstGeom prst="line">
            <a:avLst/>
          </a:prstGeom>
          <a:ln w="12700">
            <a:solidFill>
              <a:srgbClr val="7B8591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685800" y="5042408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024120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A service client pays about twice as much a year ($39k against $20k) and churns less.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EXIT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6439696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Exit odds are close across the leading paths, and every exit is modest.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Handoff analysis, 30,000 runs per path; Venn (GlobeNewswire, Sept 2026).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Business model scenarios   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2039112"/>
            <a:ext cx="3672687" cy="260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8"/>
              </a:lnSpc>
            </a:pPr>
            <a:r>
              <a:rPr sz="1600" b="1">
                <a:solidFill>
                  <a:srgbClr val="46505C"/>
                </a:solidFill>
                <a:latin typeface="Arial"/>
              </a:rPr>
              <a:t>An exit of $25M or more by month 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33207" y="2039112"/>
            <a:ext cx="3672687" cy="260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8"/>
              </a:lnSpc>
            </a:pPr>
            <a:r>
              <a:rPr sz="1600" b="1">
                <a:solidFill>
                  <a:srgbClr val="46505C"/>
                </a:solidFill>
                <a:latin typeface="Arial"/>
              </a:rPr>
              <a:t>Founders take home $5M or more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380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Service, then software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2472944"/>
            <a:ext cx="1261803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56563" y="2454656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4.5%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33207" y="2472944"/>
            <a:ext cx="1934765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59412" y="2454656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6.9%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3928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Software, tenancy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2948432"/>
            <a:ext cx="1121603" cy="27432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6363" y="2930144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3207" y="2948432"/>
            <a:ext cx="1794564" cy="27432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19212" y="2930144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1477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Engine for platforms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423920"/>
            <a:ext cx="813162" cy="27432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7922" y="3405632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2.9%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33207" y="3423920"/>
            <a:ext cx="1345923" cy="27432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0571" y="3405632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4.8%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03320" y="2390648"/>
            <a:ext cx="0" cy="1389888"/>
          </a:xfrm>
          <a:prstGeom prst="line">
            <a:avLst/>
          </a:prstGeom>
          <a:ln w="12700">
            <a:solidFill>
              <a:srgbClr val="7B8591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7833207" y="2390648"/>
            <a:ext cx="0" cy="1389888"/>
          </a:xfrm>
          <a:prstGeom prst="line">
            <a:avLst/>
          </a:prstGeom>
          <a:ln w="12700">
            <a:solidFill>
              <a:srgbClr val="7B8591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685800" y="4091432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073144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Median exits for these paths are $4–10M. Venn paid $50M for Zuma in 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6768101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Growing deeper into the tenancy beats adding owner projects or maintenance.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Source: Handoff analysis, 30,000 runs per path and 300 parameter draws.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Business model scenarios   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2039112"/>
            <a:ext cx="3581247" cy="260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8"/>
              </a:lnSpc>
            </a:pPr>
            <a:r>
              <a:rPr sz="1600" b="1">
                <a:solidFill>
                  <a:srgbClr val="46505C"/>
                </a:solidFill>
                <a:latin typeface="Arial"/>
              </a:rPr>
              <a:t>$1M in annual revenue by month 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647" y="2039112"/>
            <a:ext cx="3581247" cy="260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8"/>
              </a:lnSpc>
            </a:pPr>
            <a:r>
              <a:rPr sz="1600" b="1">
                <a:solidFill>
                  <a:srgbClr val="46505C"/>
                </a:solidFill>
                <a:latin typeface="Arial"/>
              </a:rPr>
              <a:t>The company fails by month 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380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Service, depth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2472944"/>
            <a:ext cx="1112152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89792" y="2454656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41%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4647" y="2472944"/>
            <a:ext cx="1437660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53748" y="2454656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53%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39288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Service, projects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2948432"/>
            <a:ext cx="813770" cy="27432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10" y="2930144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30%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4647" y="2948432"/>
            <a:ext cx="2007300" cy="27432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23387" y="2930144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74%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14776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Software, depth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3423920"/>
            <a:ext cx="705267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2907" y="3405632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26%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4647" y="3423920"/>
            <a:ext cx="1708917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5005" y="3405632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63%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9026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Software, projects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86200" y="3899408"/>
            <a:ext cx="515387" cy="27432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3027" y="3881120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19%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4647" y="3899408"/>
            <a:ext cx="1871671" cy="27432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87759" y="3881120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69%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36575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Software, maintenance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4374896"/>
            <a:ext cx="515387" cy="27432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93027" y="4356608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19%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24647" y="4374896"/>
            <a:ext cx="1953048" cy="27432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9136" y="4356608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72%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886200" y="2390648"/>
            <a:ext cx="0" cy="2340864"/>
          </a:xfrm>
          <a:prstGeom prst="line">
            <a:avLst/>
          </a:prstGeom>
          <a:ln w="12700">
            <a:solidFill>
              <a:srgbClr val="7B859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7924647" y="2390648"/>
            <a:ext cx="0" cy="2340864"/>
          </a:xfrm>
          <a:prstGeom prst="line">
            <a:avLst/>
          </a:prstGeom>
          <a:ln w="12700">
            <a:solidFill>
              <a:srgbClr val="7B8591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685800" y="5042408"/>
            <a:ext cx="45720" cy="6136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024120"/>
            <a:ext cx="5758525" cy="65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Maintenance has the largest upside if its upsell works: first on founder proceeds in 27% of draws.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WHAT WOULD CHANGE THE 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6865604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Three close contests turn on facts that a pilot and a few sales calls can measure.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Source: Handoff analysis, rank correlations across 300 parameter draws.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Business model scenarios   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3714571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CONTEST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6131" y="2039112"/>
            <a:ext cx="1330482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FIRST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5214" y="2039112"/>
            <a:ext cx="481492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WHAT DECIDES 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325624"/>
            <a:ext cx="10820095" cy="0"/>
          </a:xfrm>
          <a:prstGeom prst="line">
            <a:avLst/>
          </a:prstGeom>
          <a:ln w="12700">
            <a:solidFill>
              <a:srgbClr val="15202B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22960" y="2453640"/>
            <a:ext cx="3714571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Service first against software 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6131" y="2453640"/>
            <a:ext cx="1330482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47%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5214" y="2453640"/>
            <a:ext cx="481492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Whether tenancy depth works; what software alone can charge per move-out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3130296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22960" y="3240024"/>
            <a:ext cx="3714571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Engine against software 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6131" y="3240024"/>
            <a:ext cx="1330482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56%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5214" y="3240024"/>
            <a:ext cx="481492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Whether platforms and deposit insurers buy, and at what contract size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916680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22960" y="4026408"/>
            <a:ext cx="3714571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Tenancy depth against maintenance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6131" y="4026408"/>
            <a:ext cx="1330482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5214" y="4026408"/>
            <a:ext cx="481492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How large the maintenance upsell is, and its churn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087112"/>
            <a:ext cx="45720" cy="6136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068824"/>
            <a:ext cx="6071527" cy="65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Wins are the share of 300 parameter draws in which the first path has higher expected founder proceeds.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WHAT TO TAKE FROM 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8827054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Lead with a completed move-out, sold per outcome, and convert to software as it is measured.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Source: Handoff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Business model scenarios   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8439674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Sell the outcome first.</a:t>
            </a:r>
            <a:r>
              <a:rPr sz="1800" b="0">
                <a:solidFill>
                  <a:srgbClr val="15202B"/>
                </a:solidFill>
                <a:latin typeface="Arial"/>
              </a:rPr>
              <a:t> It gets a paying customer soonest and leads on revenue and funding.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52344"/>
            <a:ext cx="8439674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880360"/>
            <a:ext cx="8439674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Grow deeper, not wider.</a:t>
            </a:r>
            <a:r>
              <a:rPr sz="1800" b="0">
                <a:solidFill>
                  <a:srgbClr val="15202B"/>
                </a:solidFill>
                <a:latin typeface="Arial"/>
              </a:rPr>
              <a:t> The move-in record, the turn and the settlement beat owner projects and maintenance.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3593592"/>
            <a:ext cx="8439674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85800" y="3721608"/>
            <a:ext cx="8439674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Plan for a modest exit.</a:t>
            </a:r>
            <a:r>
              <a:rPr sz="1800" b="0">
                <a:solidFill>
                  <a:srgbClr val="15202B"/>
                </a:solidFill>
                <a:latin typeface="Arial"/>
              </a:rPr>
              <a:t> The likely end is a sale to a larger platform, at $4–10M in the median case.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690872"/>
            <a:ext cx="45720" cy="6136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672584"/>
            <a:ext cx="7640431" cy="65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Limits: the odds rest on generic software base rates and judgment ranges, not operator data. Read the rankings, not the levels.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