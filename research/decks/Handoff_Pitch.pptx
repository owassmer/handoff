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NAA, Apartment Turnover (2025); N.Y. General Obligations Law § 7-108(1-a)(e).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Buildium, 2026 Rental Owners' Survey; Handoff analysis of NARPM Financial Benchmarks Guide (2019): 6% margin on $1,809 revenue per unit a year; quote: r/Landlord.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N.Y. General Obligations Law § 7-108(1-a)(c), (e)–(g); NAA, Multifamily Debt Collections (2019).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Census Housing Vacancy Survey, Q2 2026; NMHC (2025); HUD/Census Rental Housing Finance Survey 2021; Terner Center (2024); FTC rental-fee notice (2026). 8.6M and $5.7B are Handoff analysis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N.Y. Laws 2019, ch. 36, Part M; FTC press releases (Sept 2024, Mar 2026); Colorado HB25-1249; Michigan Public Act 102 of 2026; Virginia 2025–26 landlord laws; Katz et al., Phil. Trans. R. Soc. A (2024).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Handoff planning ranges based on published tool prices (TurnOps) and NAA and NARPM benchmarks.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Handoff analysis, a monthly company model with 30,000 runs per path, calibrated to public software base rates (ChartMogul, Carta, PitchBook).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Obligo (PR Newswire, June 2026); AppFolio newsroom (June 2025); Entrata press (June 2025); TurnOps, My AI Front Desk and Vendoroo websites (2026).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783080"/>
            <a:ext cx="64008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029968"/>
            <a:ext cx="7315200" cy="211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64"/>
              </a:lnSpc>
            </a:pPr>
            <a:r>
              <a:rPr sz="1300" b="1" spc="156">
                <a:solidFill>
                  <a:srgbClr val="C3CCD7"/>
                </a:solidFill>
                <a:latin typeface="Arial"/>
              </a:rPr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95728"/>
            <a:ext cx="9738085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480"/>
              </a:lnSpc>
            </a:pPr>
            <a:r>
              <a:rPr sz="6000" b="0">
                <a:solidFill>
                  <a:srgbClr val="FFFFFF"/>
                </a:solidFill>
                <a:latin typeface="Georgia"/>
              </a:rPr>
              <a:t>Handoff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511296"/>
            <a:ext cx="5599447" cy="1072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16"/>
              </a:lnSpc>
            </a:pPr>
            <a:r>
              <a:rPr sz="2200" b="0">
                <a:solidFill>
                  <a:srgbClr val="C3CCD7"/>
                </a:solidFill>
                <a:latin typeface="Arial"/>
              </a:rPr>
              <a:t>Handoff takes responsibility for a residential move-out: the unit ready for the next tenant, and the departing tenant's account settled.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5897880"/>
            <a:ext cx="10820095" cy="0"/>
          </a:xfrm>
          <a:prstGeom prst="line">
            <a:avLst/>
          </a:prstGeom>
          <a:ln w="9525">
            <a:solidFill>
              <a:srgbClr val="2A3A4E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685800" y="603504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92"/>
              </a:lnSpc>
            </a:pPr>
            <a:r>
              <a:rPr sz="1400" b="0">
                <a:solidFill>
                  <a:srgbClr val="C3CCD7"/>
                </a:solidFill>
                <a:latin typeface="Arial"/>
              </a:rPr>
              <a:t>For property managers, investors and design partners · September 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6896398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A move-out is two jobs, and the manager runs both by phone and email.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NAA, Apartment Turnover (2025); N.Y. General Obligations Law § 7-108(1-a)(e).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Handoff   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2039112"/>
            <a:ext cx="5204307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7" name="Rectangle 6"/>
          <p:cNvSpPr/>
          <p:nvPr/>
        </p:nvSpPr>
        <p:spPr>
          <a:xfrm>
            <a:off x="685800" y="202082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21992"/>
            <a:ext cx="5204307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THE 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26792"/>
            <a:ext cx="5204307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200" b="0">
                <a:solidFill>
                  <a:srgbClr val="15202B"/>
                </a:solidFill>
                <a:latin typeface="Georgia"/>
              </a:rPr>
              <a:t>Get the unit 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71800"/>
            <a:ext cx="5204307" cy="166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4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Walk-through and scope of work.</a:t>
            </a:r>
          </a:p>
          <a:p>
            <a:pPr algn="l">
              <a:lnSpc>
                <a:spcPts val="2304"/>
              </a:lnSpc>
              <a:spcAft>
                <a:spcPts val="4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Quotes from each trade, in order.</a:t>
            </a:r>
          </a:p>
          <a:p>
            <a:pPr algn="l">
              <a:lnSpc>
                <a:spcPts val="2304"/>
              </a:lnSpc>
              <a:spcAft>
                <a:spcPts val="4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Owner approval of the budget.</a:t>
            </a:r>
          </a:p>
          <a:p>
            <a:pPr algn="l">
              <a:lnSpc>
                <a:spcPts val="2304"/>
              </a:lnSpc>
              <a:spcAft>
                <a:spcPts val="4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Vendor visits, reports and invoices.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Paying vendors from owner funds.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01587" y="2039112"/>
            <a:ext cx="5204308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6301587" y="2020824"/>
            <a:ext cx="548640" cy="3657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1587" y="2221992"/>
            <a:ext cx="5204307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THE ACCOUNT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1587" y="2526792"/>
            <a:ext cx="5204307" cy="335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640"/>
              </a:lnSpc>
            </a:pPr>
            <a:r>
              <a:rPr sz="2200" b="0">
                <a:solidFill>
                  <a:srgbClr val="15202B"/>
                </a:solidFill>
                <a:latin typeface="Georgia"/>
              </a:rPr>
              <a:t>Settle with the departing tenant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7" y="2971800"/>
            <a:ext cx="5204307" cy="1322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4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The deposit and any interest owed.</a:t>
            </a:r>
          </a:p>
          <a:p>
            <a:pPr algn="l">
              <a:lnSpc>
                <a:spcPts val="2304"/>
              </a:lnSpc>
              <a:spcAft>
                <a:spcPts val="4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Charges and credits, each with evidence.</a:t>
            </a:r>
          </a:p>
          <a:p>
            <a:pPr algn="l">
              <a:lnSpc>
                <a:spcPts val="2304"/>
              </a:lnSpc>
              <a:spcAft>
                <a:spcPts val="400"/>
              </a:spcAft>
            </a:pPr>
            <a:r>
              <a:rPr sz="1800" b="1">
                <a:solidFill>
                  <a:srgbClr val="15202B"/>
                </a:solidFill>
                <a:latin typeface="Arial"/>
              </a:rPr>
              <a:t>An itemized statement within 14 days.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A refund, or a balance to collect.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022088"/>
            <a:ext cx="45720" cy="6136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03800"/>
            <a:ext cx="7496763" cy="65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At one 300-unit property in an NAA case study, staff spent up to 15 hours a week managing contractors by email, text and phone.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WHO FEELS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6996452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Third-party managers of small buildings and scattered homes feel it most.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Buildium, 2026 Rental Owners' Survey; Handoff analysis of NARPM Financial Benchmarks Guide (2019): 6% margin on $1,809 revenue per unit a year; quote: r/Landlord.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Handoff   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2039112"/>
            <a:ext cx="3332378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7" name="Rectangle 6"/>
          <p:cNvSpPr/>
          <p:nvPr/>
        </p:nvSpPr>
        <p:spPr>
          <a:xfrm>
            <a:off x="685800" y="202082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21992"/>
            <a:ext cx="3332378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THE 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26792"/>
            <a:ext cx="3332378" cy="188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Manages NYC walk-ups, small multifamily buildings and scattered single-family homes for owners.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No on-site staff. Vendors, phone and email do the work.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29658" y="2039112"/>
            <a:ext cx="3332378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4429658" y="202082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9658" y="2221992"/>
            <a:ext cx="3332378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WHO SIGNS, WHO USES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526792"/>
            <a:ext cx="3332378" cy="1297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The operations lead or the owner signs.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The property manager and the super use it every day.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73516" y="2039112"/>
            <a:ext cx="3332379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5" name="Rectangle 14"/>
          <p:cNvSpPr/>
          <p:nvPr/>
        </p:nvSpPr>
        <p:spPr>
          <a:xfrm>
            <a:off x="8173516" y="202082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3516" y="2221992"/>
            <a:ext cx="3332378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WHO PAYS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3516" y="2526792"/>
            <a:ext cx="3332378" cy="188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The owner funds the turn. 84% of owners want to approve large repairs.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A manager keeps about $9 a unit a month, so the owner pays, or recovered charges 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793488"/>
            <a:ext cx="45720" cy="6136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775200"/>
            <a:ext cx="6358886" cy="65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“It's all happening in spreadsheets and texts outside the platform.” A manager of about 100 units, May 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7397974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Handoff runs the move-out. The manager approves the plan and accepts the account.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Handoff   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39112"/>
            <a:ext cx="10820095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THE UNIT READY FOR THE NEXT TENANT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62200"/>
            <a:ext cx="1783628" cy="841248"/>
          </a:xfrm>
          <a:prstGeom prst="roundRect">
            <a:avLst>
              <a:gd name="adj" fmla="val 6521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2490216"/>
            <a:ext cx="152759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04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Notice and plan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5148" y="2782824"/>
            <a:ext cx="402336" cy="0"/>
          </a:xfrm>
          <a:prstGeom prst="line">
            <a:avLst/>
          </a:prstGeom>
          <a:ln w="28575">
            <a:solidFill>
              <a:srgbClr val="5B6573"/>
            </a:solidFill>
            <a:tailEnd type="triangle" w="med" len="med"/>
          </a:ln>
        </p:spPr>
      </p:cxnSp>
      <p:sp>
        <p:nvSpPr>
          <p:cNvPr id="9" name="Rounded Rectangle 8"/>
          <p:cNvSpPr/>
          <p:nvPr/>
        </p:nvSpPr>
        <p:spPr>
          <a:xfrm>
            <a:off x="2944916" y="2362200"/>
            <a:ext cx="1783628" cy="841248"/>
          </a:xfrm>
          <a:prstGeom prst="roundRect">
            <a:avLst>
              <a:gd name="adj" fmla="val 6521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72932" y="2490216"/>
            <a:ext cx="152759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04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Vendor quotes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74265" y="2782824"/>
            <a:ext cx="402336" cy="0"/>
          </a:xfrm>
          <a:prstGeom prst="line">
            <a:avLst/>
          </a:prstGeom>
          <a:ln w="28575">
            <a:solidFill>
              <a:srgbClr val="5B6573"/>
            </a:solidFill>
            <a:tailEnd type="triangle" w="med" len="med"/>
          </a:ln>
        </p:spPr>
      </p:cxnSp>
      <p:sp>
        <p:nvSpPr>
          <p:cNvPr id="12" name="Rounded Rectangle 11"/>
          <p:cNvSpPr/>
          <p:nvPr/>
        </p:nvSpPr>
        <p:spPr>
          <a:xfrm>
            <a:off x="5204033" y="2362200"/>
            <a:ext cx="1783628" cy="841248"/>
          </a:xfrm>
          <a:prstGeom prst="roundRect">
            <a:avLst>
              <a:gd name="adj" fmla="val 6521"/>
            </a:avLst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2049" y="2490216"/>
            <a:ext cx="152759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04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Manager approves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33381" y="2782824"/>
            <a:ext cx="402336" cy="0"/>
          </a:xfrm>
          <a:prstGeom prst="line">
            <a:avLst/>
          </a:prstGeom>
          <a:ln w="28575">
            <a:solidFill>
              <a:srgbClr val="5B6573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7463149" y="2362200"/>
            <a:ext cx="1783628" cy="841248"/>
          </a:xfrm>
          <a:prstGeom prst="roundRect">
            <a:avLst>
              <a:gd name="adj" fmla="val 6521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91165" y="2490216"/>
            <a:ext cx="152759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04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Visits and invoices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92498" y="2782824"/>
            <a:ext cx="402336" cy="0"/>
          </a:xfrm>
          <a:prstGeom prst="line">
            <a:avLst/>
          </a:prstGeom>
          <a:ln w="28575">
            <a:solidFill>
              <a:srgbClr val="5B6573"/>
            </a:solidFill>
            <a:tailEnd type="triangle" w="med" len="med"/>
          </a:ln>
        </p:spPr>
      </p:cxnSp>
      <p:sp>
        <p:nvSpPr>
          <p:cNvPr id="18" name="Rounded Rectangle 17"/>
          <p:cNvSpPr/>
          <p:nvPr/>
        </p:nvSpPr>
        <p:spPr>
          <a:xfrm>
            <a:off x="9722266" y="2362200"/>
            <a:ext cx="1783628" cy="841248"/>
          </a:xfrm>
          <a:prstGeom prst="roundRect">
            <a:avLst>
              <a:gd name="adj" fmla="val 6521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50282" y="2490216"/>
            <a:ext cx="152759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04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Owner funds, vendor paid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77768"/>
            <a:ext cx="10820095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THE DEPARTING TENANT'S ACCOUNT SETTLED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00856"/>
            <a:ext cx="1783628" cy="841248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5875">
            <a:solidFill>
              <a:srgbClr val="15202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" y="3928872"/>
            <a:ext cx="152759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Evidence from the turn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15148" y="4221480"/>
            <a:ext cx="402336" cy="0"/>
          </a:xfrm>
          <a:prstGeom prst="line">
            <a:avLst/>
          </a:prstGeom>
          <a:ln w="28575">
            <a:solidFill>
              <a:srgbClr val="5B6573"/>
            </a:solidFill>
            <a:tailEnd type="triangle" w="med" len="med"/>
          </a:ln>
        </p:spPr>
      </p:cxnSp>
      <p:sp>
        <p:nvSpPr>
          <p:cNvPr id="24" name="Rounded Rectangle 23"/>
          <p:cNvSpPr/>
          <p:nvPr/>
        </p:nvSpPr>
        <p:spPr>
          <a:xfrm>
            <a:off x="2944916" y="3800856"/>
            <a:ext cx="1783628" cy="841248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5875">
            <a:solidFill>
              <a:srgbClr val="15202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72932" y="3928872"/>
            <a:ext cx="152759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Account drafted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74265" y="4221480"/>
            <a:ext cx="402336" cy="0"/>
          </a:xfrm>
          <a:prstGeom prst="line">
            <a:avLst/>
          </a:prstGeom>
          <a:ln w="28575">
            <a:solidFill>
              <a:srgbClr val="5B6573"/>
            </a:solidFill>
            <a:tailEnd type="triangle" w="med" len="med"/>
          </a:ln>
        </p:spPr>
      </p:cxnSp>
      <p:sp>
        <p:nvSpPr>
          <p:cNvPr id="27" name="Rounded Rectangle 26"/>
          <p:cNvSpPr/>
          <p:nvPr/>
        </p:nvSpPr>
        <p:spPr>
          <a:xfrm>
            <a:off x="5204033" y="3800856"/>
            <a:ext cx="1783628" cy="841248"/>
          </a:xfrm>
          <a:prstGeom prst="roundRect">
            <a:avLst>
              <a:gd name="adj" fmla="val 6521"/>
            </a:avLst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2049" y="3928872"/>
            <a:ext cx="152759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04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Manager accepts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033381" y="4221480"/>
            <a:ext cx="402336" cy="0"/>
          </a:xfrm>
          <a:prstGeom prst="line">
            <a:avLst/>
          </a:prstGeom>
          <a:ln w="28575">
            <a:solidFill>
              <a:srgbClr val="5B6573"/>
            </a:solidFill>
            <a:tailEnd type="triangle" w="med" len="med"/>
          </a:ln>
        </p:spPr>
      </p:cxnSp>
      <p:sp>
        <p:nvSpPr>
          <p:cNvPr id="30" name="Rounded Rectangle 29"/>
          <p:cNvSpPr/>
          <p:nvPr/>
        </p:nvSpPr>
        <p:spPr>
          <a:xfrm>
            <a:off x="7463149" y="3800856"/>
            <a:ext cx="1783628" cy="841248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5875">
            <a:solidFill>
              <a:srgbClr val="15202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91165" y="3928872"/>
            <a:ext cx="152759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Statement by day 14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92498" y="4221480"/>
            <a:ext cx="402336" cy="0"/>
          </a:xfrm>
          <a:prstGeom prst="line">
            <a:avLst/>
          </a:prstGeom>
          <a:ln w="28575">
            <a:solidFill>
              <a:srgbClr val="5B6573"/>
            </a:solidFill>
            <a:tailEnd type="triangle" w="med" len="med"/>
          </a:ln>
        </p:spPr>
      </p:cxnSp>
      <p:sp>
        <p:nvSpPr>
          <p:cNvPr id="33" name="Rounded Rectangle 32"/>
          <p:cNvSpPr/>
          <p:nvPr/>
        </p:nvSpPr>
        <p:spPr>
          <a:xfrm>
            <a:off x="9722266" y="3800856"/>
            <a:ext cx="1783628" cy="841248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15875">
            <a:solidFill>
              <a:srgbClr val="15202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50282" y="3928872"/>
            <a:ext cx="1527596" cy="5852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Refund or balance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37811" y="502920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67579" y="457200"/>
            <a:ext cx="111887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8"/>
              </a:lnSpc>
            </a:pPr>
            <a:r>
              <a:rPr sz="1600" b="0">
                <a:solidFill>
                  <a:srgbClr val="46505C"/>
                </a:solidFill>
                <a:latin typeface="Arial"/>
              </a:rPr>
              <a:t>Runs today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52209" y="502920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15202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1977" y="457200"/>
            <a:ext cx="19329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8"/>
              </a:lnSpc>
            </a:pPr>
            <a:r>
              <a:rPr sz="1600" b="0">
                <a:solidFill>
                  <a:srgbClr val="46505C"/>
                </a:solidFill>
                <a:latin typeface="Arial"/>
              </a:rPr>
              <a:t>Delivered in the pilot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80677" y="502920"/>
            <a:ext cx="310896" cy="182880"/>
          </a:xfrm>
          <a:prstGeom prst="roundRect">
            <a:avLst>
              <a:gd name="adj" fmla="val 15000"/>
            </a:avLst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10445" y="457200"/>
            <a:ext cx="169545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8"/>
              </a:lnSpc>
            </a:pPr>
            <a:r>
              <a:rPr sz="1600" b="0">
                <a:solidFill>
                  <a:srgbClr val="46505C"/>
                </a:solidFill>
                <a:latin typeface="Arial"/>
              </a:rPr>
              <a:t>Manager decision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026152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5007864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The turn produces the evidence behind each charge on the account.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WHY THE SETTLEMENT 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5558392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In New York, a statement sent one day late forfeits the deposit.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N.Y. General Obligations Law § 7-108(1-a)(c), (e)–(g); NAA, Multifamily Debt Collections (2019).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Handoff   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1947672"/>
            <a:ext cx="3931920" cy="139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000"/>
              </a:lnSpc>
            </a:pPr>
            <a:r>
              <a:rPr sz="11000" b="1">
                <a:solidFill>
                  <a:srgbClr val="C2410C"/>
                </a:solidFill>
                <a:latin typeface="Arial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81831"/>
            <a:ext cx="3657600" cy="975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days after the tenant vacates to send an itemized statement and return the rest.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46320" y="2039112"/>
            <a:ext cx="0" cy="3054095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074920" y="2039112"/>
            <a:ext cx="643097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Forfeiture.</a:t>
            </a:r>
            <a:r>
              <a:rPr sz="1800" b="0">
                <a:solidFill>
                  <a:srgbClr val="15202B"/>
                </a:solidFill>
                <a:latin typeface="Arial"/>
              </a:rPr>
              <a:t> Miss the deadline and the landlord loses any right to keep the deposit. Intent does not matter.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74920" y="2743200"/>
            <a:ext cx="643097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074920" y="2862072"/>
            <a:ext cx="643097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Penalty.</a:t>
            </a:r>
            <a:r>
              <a:rPr sz="1800" b="0">
                <a:solidFill>
                  <a:srgbClr val="15202B"/>
                </a:solidFill>
                <a:latin typeface="Arial"/>
              </a:rPr>
              <a:t> A willful violation adds damages of up to twice the deposit.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74920" y="3566160"/>
            <a:ext cx="643097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5074920" y="3685032"/>
            <a:ext cx="643097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Burden.</a:t>
            </a:r>
            <a:r>
              <a:rPr sz="1800" b="0">
                <a:solidFill>
                  <a:srgbClr val="15202B"/>
                </a:solidFill>
                <a:latin typeface="Arial"/>
              </a:rPr>
              <a:t> The landlord must prove each charge is reasonable. Nothing noted at move-in can be charged.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74920" y="4389120"/>
            <a:ext cx="643097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5074920" y="4507992"/>
            <a:ext cx="6430975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Late recovery.</a:t>
            </a:r>
            <a:r>
              <a:rPr sz="1800" b="0">
                <a:solidFill>
                  <a:srgbClr val="15202B"/>
                </a:solidFill>
                <a:latin typeface="Arial"/>
              </a:rPr>
              <a:t> Collection agencies recover 15–20% of former-tenant debt.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8603846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Code sets every date and amount. A narrow judgment model answers the judgment 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Handoff   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39112"/>
            <a:ext cx="2743200" cy="658368"/>
          </a:xfrm>
          <a:prstGeom prst="roundRect">
            <a:avLst>
              <a:gd name="adj" fmla="val 5555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39112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2039112"/>
            <a:ext cx="7894015" cy="658368"/>
          </a:xfrm>
          <a:prstGeom prst="roundRect">
            <a:avLst>
              <a:gd name="adj" fmla="val 5555"/>
            </a:avLst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2039112"/>
            <a:ext cx="7436815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Deadlines, caps, interest, barred charges and every amount.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07208"/>
            <a:ext cx="2743200" cy="658368"/>
          </a:xfrm>
          <a:prstGeom prst="roundRect">
            <a:avLst>
              <a:gd name="adj" fmla="val 5555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07208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Judgment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807208"/>
            <a:ext cx="7894015" cy="658368"/>
          </a:xfrm>
          <a:prstGeom prst="roundRect">
            <a:avLst>
              <a:gd name="adj" fmla="val 5555"/>
            </a:avLst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807208"/>
            <a:ext cx="7436815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Narrow questions: wear and tear or tenant damage? Noted at move-in?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75303"/>
            <a:ext cx="2743200" cy="658368"/>
          </a:xfrm>
          <a:prstGeom prst="roundRect">
            <a:avLst>
              <a:gd name="adj" fmla="val 5555"/>
            </a:avLst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575303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Coordinator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3575303"/>
            <a:ext cx="7894015" cy="658368"/>
          </a:xfrm>
          <a:prstGeom prst="roundRect">
            <a:avLst>
              <a:gd name="adj" fmla="val 5555"/>
            </a:avLst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60" y="3575303"/>
            <a:ext cx="7436815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Schedules vendors so the evidence lands before the deadline.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43400"/>
            <a:ext cx="2743200" cy="658368"/>
          </a:xfrm>
          <a:prstGeom prst="roundRect">
            <a:avLst>
              <a:gd name="adj" fmla="val 5555"/>
            </a:avLst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43400"/>
            <a:ext cx="237744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Manager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80" y="4343400"/>
            <a:ext cx="7894015" cy="658368"/>
          </a:xfrm>
          <a:prstGeom prst="roundRect">
            <a:avLst>
              <a:gd name="adj" fmla="val 5555"/>
            </a:avLst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4343400"/>
            <a:ext cx="7436815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Sees each line's basis and accepts the account once.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385816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367528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A judgment never sets an amount or a date. Unknown facts go to the manager.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WHAT CHANGES FOR THE 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5853453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By about day 10 the manager sees one account, and decides once.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Handoff   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95528" y="2167128"/>
            <a:ext cx="8355101" cy="0"/>
          </a:xfrm>
          <a:prstGeom prst="line">
            <a:avLst/>
          </a:prstGeom>
          <a:ln w="19050">
            <a:solidFill>
              <a:srgbClr val="D9DDE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685800" y="2057400"/>
            <a:ext cx="219456" cy="219456"/>
          </a:xfrm>
          <a:prstGeom prst="ellipse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96312"/>
            <a:ext cx="2464993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Notice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2872"/>
            <a:ext cx="2464993" cy="2048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Handoff knows whether rent can be recovered, the day-14 deadline, the lawful way to send the statement, and which charges are barred.</a:t>
            </a:r>
          </a:p>
        </p:txBody>
      </p:sp>
      <p:sp>
        <p:nvSpPr>
          <p:cNvPr id="9" name="Oval 8"/>
          <p:cNvSpPr/>
          <p:nvPr/>
        </p:nvSpPr>
        <p:spPr>
          <a:xfrm>
            <a:off x="3470833" y="2057400"/>
            <a:ext cx="219456" cy="219456"/>
          </a:xfrm>
          <a:prstGeom prst="ellipse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0833" y="2496312"/>
            <a:ext cx="2464993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During the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0833" y="2912872"/>
            <a:ext cx="2464993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Vendor visits, photos and invoices are scheduled to land before the deadline.</a:t>
            </a:r>
          </a:p>
        </p:txBody>
      </p:sp>
      <p:sp>
        <p:nvSpPr>
          <p:cNvPr id="12" name="Oval 11"/>
          <p:cNvSpPr/>
          <p:nvPr/>
        </p:nvSpPr>
        <p:spPr>
          <a:xfrm>
            <a:off x="6255867" y="2057400"/>
            <a:ext cx="219456" cy="219456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5867" y="2496312"/>
            <a:ext cx="2464993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C2410C"/>
                </a:solidFill>
                <a:latin typeface="Arial"/>
              </a:rPr>
              <a:t>About day 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867" y="2912872"/>
            <a:ext cx="2464993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One account. Each line shows its rule, evidence, judgment and arithmetic.</a:t>
            </a:r>
          </a:p>
        </p:txBody>
      </p:sp>
      <p:sp>
        <p:nvSpPr>
          <p:cNvPr id="15" name="Oval 14"/>
          <p:cNvSpPr/>
          <p:nvPr/>
        </p:nvSpPr>
        <p:spPr>
          <a:xfrm>
            <a:off x="9040901" y="2057400"/>
            <a:ext cx="219456" cy="219456"/>
          </a:xfrm>
          <a:prstGeom prst="ellipse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0901" y="2496312"/>
            <a:ext cx="2464993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Day 14 and 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0901" y="2912872"/>
            <a:ext cx="2464993" cy="20482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Handoff sends the statement and refund on time, answers disputes with the evidence on file, and recommends whether to pursue a balance.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345176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326888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This is the settlement half, which the pilot delivers.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5976608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About $5.7 billion in deposits is settled at US move-outs each year.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Census Housing Vacancy Survey, Q2 2026; NMHC (2025); HUD/Census Rental Housing Finance Survey 2021; Terner Center (2024); FTC rental-fee notice (2026). 8.6M and $5.7B are Handoff analysis of these.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Handoff   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2130552"/>
            <a:ext cx="2430703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7" name="Rectangle 6"/>
          <p:cNvSpPr/>
          <p:nvPr/>
        </p:nvSpPr>
        <p:spPr>
          <a:xfrm>
            <a:off x="685800" y="211226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86584"/>
            <a:ext cx="2430703" cy="720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670"/>
              </a:lnSpc>
            </a:pPr>
            <a:r>
              <a:rPr sz="5400" b="1">
                <a:solidFill>
                  <a:srgbClr val="15202B"/>
                </a:solidFill>
                <a:latin typeface="Arial"/>
              </a:rPr>
              <a:t>46.8M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16402"/>
            <a:ext cx="2339263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renter-occupied homes in the US, Q2 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82263" y="2130552"/>
            <a:ext cx="2430704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3482263" y="211226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2263" y="2386584"/>
            <a:ext cx="2430703" cy="720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670"/>
              </a:lnSpc>
            </a:pPr>
            <a:r>
              <a:rPr sz="5400" b="1">
                <a:solidFill>
                  <a:srgbClr val="15202B"/>
                </a:solidFill>
                <a:latin typeface="Arial"/>
              </a:rPr>
              <a:t>8.6M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3216402"/>
            <a:ext cx="2339263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renter moves a year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78727" y="2130552"/>
            <a:ext cx="2430704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5" name="Rectangle 14"/>
          <p:cNvSpPr/>
          <p:nvPr/>
        </p:nvSpPr>
        <p:spPr>
          <a:xfrm>
            <a:off x="6278727" y="211226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86584"/>
            <a:ext cx="2430703" cy="720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670"/>
              </a:lnSpc>
            </a:pPr>
            <a:r>
              <a:rPr sz="5400" b="1">
                <a:solidFill>
                  <a:srgbClr val="15202B"/>
                </a:solidFill>
                <a:latin typeface="Arial"/>
              </a:rPr>
              <a:t>31M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3216402"/>
            <a:ext cx="2339263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rental units in buildings of 1 to 49 units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75191" y="2130552"/>
            <a:ext cx="2430704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9075191" y="2112264"/>
            <a:ext cx="548640" cy="3657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5191" y="2386584"/>
            <a:ext cx="2430703" cy="72009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670"/>
              </a:lnSpc>
            </a:pPr>
            <a:r>
              <a:rPr sz="5400" b="1">
                <a:solidFill>
                  <a:srgbClr val="C2410C"/>
                </a:solidFill>
                <a:latin typeface="Arial"/>
              </a:rPr>
              <a:t>$5.7B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5191" y="3216402"/>
            <a:ext cx="2339263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in deposits settled at move-out each year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478274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459986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83% of renters pay a deposit. The median deposit was $795 in 2025.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7563473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Move-out rules are tightening, and models can now apply standards like wear and tear.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N.Y. Laws 2019, ch. 36, Part M; FTC press releases (Sept 2024, Mar 2026); Colorado HB25-1249; Michigan Public Act 102 of 2026; Virginia 2025–26 landlord laws; Katz et al., Phil. Trans. R. Soc. A (2024).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Handoff   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95528" y="2167128"/>
            <a:ext cx="8355101" cy="0"/>
          </a:xfrm>
          <a:prstGeom prst="line">
            <a:avLst/>
          </a:prstGeom>
          <a:ln w="19050">
            <a:solidFill>
              <a:srgbClr val="D9DDE2"/>
            </a:solidFill>
          </a:ln>
        </p:spPr>
      </p:cxnSp>
      <p:sp>
        <p:nvSpPr>
          <p:cNvPr id="7" name="Oval 6"/>
          <p:cNvSpPr/>
          <p:nvPr/>
        </p:nvSpPr>
        <p:spPr>
          <a:xfrm>
            <a:off x="685800" y="2057400"/>
            <a:ext cx="219456" cy="219456"/>
          </a:xfrm>
          <a:prstGeom prst="ellipse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496312"/>
            <a:ext cx="2464993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2019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12872"/>
            <a:ext cx="2464993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New York: an itemized statement within 14 days, or the deposit is forfeited.</a:t>
            </a:r>
          </a:p>
        </p:txBody>
      </p:sp>
      <p:sp>
        <p:nvSpPr>
          <p:cNvPr id="10" name="Oval 9"/>
          <p:cNvSpPr/>
          <p:nvPr/>
        </p:nvSpPr>
        <p:spPr>
          <a:xfrm>
            <a:off x="3470833" y="2057400"/>
            <a:ext cx="219456" cy="219456"/>
          </a:xfrm>
          <a:prstGeom prst="ellipse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0833" y="2496312"/>
            <a:ext cx="2464993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2912872"/>
            <a:ext cx="2464993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FTC: a $48M settlement with Invitation Homes, including deposits withheld at move-out.</a:t>
            </a:r>
          </a:p>
        </p:txBody>
      </p:sp>
      <p:sp>
        <p:nvSpPr>
          <p:cNvPr id="13" name="Oval 12"/>
          <p:cNvSpPr/>
          <p:nvPr/>
        </p:nvSpPr>
        <p:spPr>
          <a:xfrm>
            <a:off x="6255867" y="2057400"/>
            <a:ext cx="219456" cy="219456"/>
          </a:xfrm>
          <a:prstGeom prst="ellipse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5867" y="2496312"/>
            <a:ext cx="2464993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2025–26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5867" y="2912872"/>
            <a:ext cx="2464993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Virginia, Colorado and Michigan tighten fee, deposit and move-out rules.</a:t>
            </a:r>
          </a:p>
        </p:txBody>
      </p:sp>
      <p:sp>
        <p:nvSpPr>
          <p:cNvPr id="16" name="Oval 15"/>
          <p:cNvSpPr/>
          <p:nvPr/>
        </p:nvSpPr>
        <p:spPr>
          <a:xfrm>
            <a:off x="9040901" y="2057400"/>
            <a:ext cx="219456" cy="219456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40901" y="2496312"/>
            <a:ext cx="2464993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C2410C"/>
                </a:solidFill>
                <a:latin typeface="Arial"/>
              </a:rPr>
              <a:t>March 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0901" y="2912872"/>
            <a:ext cx="2464993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The FTC opens a rulemaking on rental fees “from application to moveout.”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759960"/>
            <a:ext cx="45720" cy="6136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741672"/>
            <a:ext cx="8038100" cy="65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GPT-4 passed the Uniform Bar Exam in a 2024 study. A narrow model can now apply a standard; code keeps the dates and amounts.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7528821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Handoff sells a completed move-out, priced per outcome, starting with a paid pilot.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Source: Handoff planning ranges based on published tool prices (TurnOps) and NAA and NARPM benchmarks.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Handoff   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2039112"/>
            <a:ext cx="3332378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7" name="Rectangle 6"/>
          <p:cNvSpPr/>
          <p:nvPr/>
        </p:nvSpPr>
        <p:spPr>
          <a:xfrm>
            <a:off x="685800" y="202082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21992"/>
            <a:ext cx="3332378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26792"/>
            <a:ext cx="3332378" cy="1297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Per completed move-out.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Planning range $250–450, against $100–250 for a software tool.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29658" y="2039112"/>
            <a:ext cx="3332378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4429658" y="2020824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9658" y="2221992"/>
            <a:ext cx="3332378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WHO PAYS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526792"/>
            <a:ext cx="3332378" cy="159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Billed to the owner, or covered by charges recovered from the departing tenant.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Not paid from the manager's margin.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73516" y="2039112"/>
            <a:ext cx="3332379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5" name="Rectangle 14"/>
          <p:cNvSpPr/>
          <p:nvPr/>
        </p:nvSpPr>
        <p:spPr>
          <a:xfrm>
            <a:off x="8173516" y="2020824"/>
            <a:ext cx="548640" cy="3657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3516" y="2221992"/>
            <a:ext cx="3332378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3516" y="2526792"/>
            <a:ext cx="3332378" cy="18826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  <a:spcAft>
                <a:spcPts val="1000"/>
              </a:spcAft>
            </a:pPr>
            <a:r>
              <a:rPr sz="1800" b="0">
                <a:solidFill>
                  <a:srgbClr val="15202B"/>
                </a:solidFill>
                <a:latin typeface="Arial"/>
              </a:rPr>
              <a:t>One manager, the next 20 move-outs, a $1,000 fixed fee.</a:t>
            </a:r>
          </a:p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The manager approves every charge. The manager's own payment provider moves the money.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793488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775200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As each judgment step is measured, more of the service runs as software.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WHY SELL AN 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7465969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Selling a completed move-out gets a paying customer sooner than selling software.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Source: Handoff analysis, a monthly company model with 30,000 runs per path, calibrated to public software base rates (ChartMogul, Carta, PitchBook).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Handoff   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93976"/>
            <a:ext cx="274320" cy="182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039112"/>
            <a:ext cx="24815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8"/>
              </a:lnSpc>
            </a:pPr>
            <a:r>
              <a:rPr sz="1600" b="0">
                <a:solidFill>
                  <a:srgbClr val="46505C"/>
                </a:solidFill>
                <a:latin typeface="Arial"/>
              </a:rPr>
              <a:t>Service first, then software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8627" y="2093976"/>
            <a:ext cx="274320" cy="182880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92676" y="2039112"/>
            <a:ext cx="132207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48"/>
              </a:lnSpc>
            </a:pPr>
            <a:r>
              <a:rPr sz="1600" b="0">
                <a:solidFill>
                  <a:srgbClr val="46505C"/>
                </a:solidFill>
                <a:latin typeface="Arial"/>
              </a:rPr>
              <a:t>Software only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846320" y="2496312"/>
            <a:ext cx="0" cy="2121408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4389120" y="466344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25463" y="2496312"/>
            <a:ext cx="0" cy="2121408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13" name="TextBox 12"/>
          <p:cNvSpPr txBox="1"/>
          <p:nvPr/>
        </p:nvSpPr>
        <p:spPr>
          <a:xfrm>
            <a:off x="5768263" y="466344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25%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04607" y="2496312"/>
            <a:ext cx="0" cy="2121408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15" name="TextBox 14"/>
          <p:cNvSpPr txBox="1"/>
          <p:nvPr/>
        </p:nvSpPr>
        <p:spPr>
          <a:xfrm>
            <a:off x="7147407" y="466344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50%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83751" y="2496312"/>
            <a:ext cx="0" cy="2121408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17" name="TextBox 16"/>
          <p:cNvSpPr txBox="1"/>
          <p:nvPr/>
        </p:nvSpPr>
        <p:spPr>
          <a:xfrm>
            <a:off x="8526551" y="466344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75%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362895" y="2496312"/>
            <a:ext cx="0" cy="2121408"/>
          </a:xfrm>
          <a:prstGeom prst="line">
            <a:avLst/>
          </a:prstGeom>
          <a:ln w="9525">
            <a:solidFill>
              <a:srgbClr val="D9DDE2"/>
            </a:solidFill>
            <a:prstDash val="dash"/>
          </a:ln>
        </p:spPr>
      </p:cxnSp>
      <p:sp>
        <p:nvSpPr>
          <p:cNvPr id="19" name="TextBox 18"/>
          <p:cNvSpPr txBox="1"/>
          <p:nvPr/>
        </p:nvSpPr>
        <p:spPr>
          <a:xfrm>
            <a:off x="9905695" y="466344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560"/>
              </a:lnSpc>
            </a:pPr>
            <a:r>
              <a:rPr sz="1300" b="0">
                <a:solidFill>
                  <a:srgbClr val="7B8591"/>
                </a:solidFill>
                <a:latin typeface="Arial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64261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Paying customer in 12 months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542032"/>
            <a:ext cx="4854586" cy="21945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46626" y="2514600"/>
            <a:ext cx="497839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92346" y="250545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1">
                <a:solidFill>
                  <a:srgbClr val="C2410C"/>
                </a:solidFill>
                <a:latin typeface="Arial"/>
              </a:rPr>
              <a:t>88%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816352"/>
            <a:ext cx="4192597" cy="219456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84637" y="2788920"/>
            <a:ext cx="497839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0357" y="277977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1">
                <a:solidFill>
                  <a:srgbClr val="46505C"/>
                </a:solidFill>
                <a:latin typeface="Arial"/>
              </a:rPr>
              <a:t>76%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41071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$1M revenue by month 36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3310128"/>
            <a:ext cx="2316961" cy="21945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09001" y="3282696"/>
            <a:ext cx="497839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54721" y="327355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1">
                <a:solidFill>
                  <a:srgbClr val="C2410C"/>
                </a:solidFill>
                <a:latin typeface="Arial"/>
              </a:rPr>
              <a:t>42%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3584448"/>
            <a:ext cx="1434309" cy="219456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26349" y="3557016"/>
            <a:ext cx="497839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2069" y="354787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1">
                <a:solidFill>
                  <a:srgbClr val="46505C"/>
                </a:solidFill>
                <a:latin typeface="Arial"/>
              </a:rPr>
              <a:t>26%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17880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15202B"/>
                </a:solidFill>
                <a:latin typeface="Arial"/>
              </a:rPr>
              <a:t>A seed round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46320" y="4078224"/>
            <a:ext cx="2868619" cy="21945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60659" y="4050791"/>
            <a:ext cx="497839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06379" y="404164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1">
                <a:solidFill>
                  <a:srgbClr val="C2410C"/>
                </a:solidFill>
                <a:latin typeface="Arial"/>
              </a:rPr>
              <a:t>52%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4352544"/>
            <a:ext cx="1985967" cy="219456"/>
          </a:xfrm>
          <a:prstGeom prst="rect">
            <a:avLst/>
          </a:prstGeom>
          <a:solidFill>
            <a:srgbClr val="B4BC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78007" y="4325112"/>
            <a:ext cx="497839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23727" y="431596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920"/>
              </a:lnSpc>
            </a:pPr>
            <a:r>
              <a:rPr sz="1600" b="1">
                <a:solidFill>
                  <a:srgbClr val="46505C"/>
                </a:solidFill>
                <a:latin typeface="Arial"/>
              </a:rPr>
              <a:t>36%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5321808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0120" y="5303520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Modeled odds, not forecasts. On either path, the likely exit is a sale to a platform.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8231811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Others sell tools for parts of the move-out. Handoff takes responsibility for both 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36792"/>
            <a:ext cx="7894015" cy="338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Sources: Obligo (PR Newswire, June 2026); AppFolio newsroom (June 2025); Entrata press (June 2025); TurnOps, My AI Front Desk and Vendoroo websites (2026).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Handoff   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39112"/>
            <a:ext cx="1972353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23913" y="2039112"/>
            <a:ext cx="5181703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WHAT IT SELLS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4216" y="2039112"/>
            <a:ext cx="2705918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7B8591"/>
                </a:solidFill>
                <a:latin typeface="Arial"/>
              </a:rPr>
              <a:t>WHERE IT RUNS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325624"/>
            <a:ext cx="10820095" cy="0"/>
          </a:xfrm>
          <a:prstGeom prst="line">
            <a:avLst/>
          </a:prstGeom>
          <a:ln w="12700">
            <a:solidFill>
              <a:srgbClr val="15202B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822960" y="2453640"/>
            <a:ext cx="1972353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Obligo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3913" y="2453640"/>
            <a:ext cx="5181703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An AI agent for deposit charges, refunds and disputes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4216" y="2453640"/>
            <a:ext cx="2705918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Inside the major systems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3130296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822960" y="3240024"/>
            <a:ext cx="197235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AppFolio, Entrata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3913" y="3240024"/>
            <a:ext cx="518170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AI maintenance agents and make-ready boards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4216" y="3240024"/>
            <a:ext cx="270591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Their own systems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624072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22960" y="3733800"/>
            <a:ext cx="197235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TurnOps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23913" y="3733800"/>
            <a:ext cx="518170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AI damage documentation for unit turns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4216" y="3733800"/>
            <a:ext cx="270591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Standalone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4117848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822960" y="4227576"/>
            <a:ext cx="197235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My AI Front Desk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3913" y="4227576"/>
            <a:ext cx="518170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A move-out assistant from notice to final ledger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4216" y="4227576"/>
            <a:ext cx="270591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Beside the major systems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4611624"/>
            <a:ext cx="10820095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822960" y="4721352"/>
            <a:ext cx="197235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Vendoroo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23913" y="4721352"/>
            <a:ext cx="5181703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AI maintenance coordination with a human expert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4216" y="4721352"/>
            <a:ext cx="270591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Standalone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5123688"/>
            <a:ext cx="10820095" cy="768096"/>
          </a:xfrm>
          <a:prstGeom prst="rect">
            <a:avLst/>
          </a:prstGeom>
          <a:solidFill>
            <a:srgbClr val="F1F3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5123688"/>
            <a:ext cx="45720" cy="76809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215128"/>
            <a:ext cx="1972353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Handoff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23913" y="5215128"/>
            <a:ext cx="5181703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The result: the unit ready and the account settled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4216" y="5215128"/>
            <a:ext cx="2705918" cy="5852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15202B"/>
                </a:solidFill>
                <a:latin typeface="Arial"/>
              </a:rPr>
              <a:t>With your vendors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TRACTION AND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6751429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The turn runs today. The pilot adds the settlement for New York City 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Handoff   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95528" y="2167128"/>
            <a:ext cx="8355101" cy="0"/>
          </a:xfrm>
          <a:prstGeom prst="line">
            <a:avLst/>
          </a:prstGeom>
          <a:ln w="19050">
            <a:solidFill>
              <a:srgbClr val="D9DDE2"/>
            </a:solidFill>
          </a:ln>
        </p:spPr>
      </p:cxnSp>
      <p:sp>
        <p:nvSpPr>
          <p:cNvPr id="6" name="Oval 5"/>
          <p:cNvSpPr/>
          <p:nvPr/>
        </p:nvSpPr>
        <p:spPr>
          <a:xfrm>
            <a:off x="685800" y="2057400"/>
            <a:ext cx="219456" cy="219456"/>
          </a:xfrm>
          <a:prstGeom prst="ellipse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96312"/>
            <a:ext cx="2464993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2872"/>
            <a:ext cx="2464993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The turn runs end to end, from the notice to paying the vendor.</a:t>
            </a:r>
          </a:p>
        </p:txBody>
      </p:sp>
      <p:sp>
        <p:nvSpPr>
          <p:cNvPr id="9" name="Oval 8"/>
          <p:cNvSpPr/>
          <p:nvPr/>
        </p:nvSpPr>
        <p:spPr>
          <a:xfrm>
            <a:off x="3470833" y="2057400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20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0833" y="2496312"/>
            <a:ext cx="2464993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0833" y="2912872"/>
            <a:ext cx="2464993" cy="877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Walkthroughs of recent move-outs with five to eight managers.</a:t>
            </a:r>
          </a:p>
        </p:txBody>
      </p:sp>
      <p:sp>
        <p:nvSpPr>
          <p:cNvPr id="12" name="Oval 11"/>
          <p:cNvSpPr/>
          <p:nvPr/>
        </p:nvSpPr>
        <p:spPr>
          <a:xfrm>
            <a:off x="6255867" y="2057400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20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55867" y="2496312"/>
            <a:ext cx="2464993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5867" y="2912872"/>
            <a:ext cx="2464993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The next 20 move-outs for a $1,000 fixed fee, with the settlement for NYC market-rate units.</a:t>
            </a:r>
          </a:p>
        </p:txBody>
      </p:sp>
      <p:sp>
        <p:nvSpPr>
          <p:cNvPr id="15" name="Oval 14"/>
          <p:cNvSpPr/>
          <p:nvPr/>
        </p:nvSpPr>
        <p:spPr>
          <a:xfrm>
            <a:off x="9040901" y="2057400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20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0901" y="2496312"/>
            <a:ext cx="2464993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5202B"/>
                </a:solidFill>
                <a:latin typeface="Arial"/>
              </a:rPr>
              <a:t>Measured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0901" y="2912872"/>
            <a:ext cx="2464993" cy="11704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04"/>
              </a:lnSpc>
            </a:pPr>
            <a:r>
              <a:rPr sz="1800" b="0">
                <a:solidFill>
                  <a:srgbClr val="46505C"/>
                </a:solidFill>
                <a:latin typeface="Arial"/>
              </a:rPr>
              <a:t>Days to rent-ready, staff hours per turn, days to statement, charges kept and disputes.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467352"/>
            <a:ext cx="45720" cy="28854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49064"/>
            <a:ext cx="10500055" cy="325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15202B"/>
                </a:solidFill>
                <a:latin typeface="Arial"/>
              </a:rPr>
              <a:t>No paying manager yet. The pilot produces the first measured 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2410C"/>
                </a:solidFill>
                <a:latin typeface="Arial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6615460" cy="868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419"/>
              </a:lnSpc>
            </a:pPr>
            <a:r>
              <a:rPr sz="3000" b="0">
                <a:solidFill>
                  <a:srgbClr val="15202B"/>
                </a:solidFill>
                <a:latin typeface="Georgia"/>
              </a:rPr>
              <a:t>Two founders: one builds the product, one runs the manager relationships.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7B8591"/>
                </a:solidFill>
                <a:latin typeface="Arial"/>
              </a:rPr>
              <a:t>Handoff   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2916935"/>
            <a:ext cx="5135727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685800" y="2898647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282695"/>
            <a:ext cx="5135727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00"/>
              </a:lnSpc>
            </a:pPr>
            <a:r>
              <a:rPr sz="4000" b="0">
                <a:solidFill>
                  <a:srgbClr val="15202B"/>
                </a:solidFill>
                <a:latin typeface="Georgia"/>
              </a:rPr>
              <a:t>Owen Wassmer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059935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C2410C"/>
                </a:solidFill>
                <a:latin typeface="Arial"/>
              </a:rPr>
              <a:t>Product and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608575"/>
            <a:ext cx="4769967" cy="975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46505C"/>
                </a:solidFill>
                <a:latin typeface="Arial"/>
              </a:rPr>
              <a:t>Builds the move-out workflow, the settlement engine and the manager's account view.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70167" y="2916935"/>
            <a:ext cx="5135728" cy="0"/>
          </a:xfrm>
          <a:prstGeom prst="line">
            <a:avLst/>
          </a:prstGeom>
          <a:ln w="9525">
            <a:solidFill>
              <a:srgbClr val="D9DDE2"/>
            </a:solidFill>
          </a:ln>
        </p:spPr>
      </p:cxnSp>
      <p:sp>
        <p:nvSpPr>
          <p:cNvPr id="11" name="Rectangle 10"/>
          <p:cNvSpPr/>
          <p:nvPr/>
        </p:nvSpPr>
        <p:spPr>
          <a:xfrm>
            <a:off x="6370167" y="2898647"/>
            <a:ext cx="548640" cy="36576"/>
          </a:xfrm>
          <a:prstGeom prst="rect">
            <a:avLst/>
          </a:prstGeom>
          <a:solidFill>
            <a:srgbClr val="1520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0167" y="3282695"/>
            <a:ext cx="5135727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00"/>
              </a:lnSpc>
            </a:pPr>
            <a:r>
              <a:rPr sz="4000" b="0">
                <a:solidFill>
                  <a:srgbClr val="15202B"/>
                </a:solidFill>
                <a:latin typeface="Georgia"/>
              </a:rPr>
              <a:t>Connor McPhail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4059935"/>
            <a:ext cx="5135727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C2410C"/>
                </a:solidFill>
                <a:latin typeface="Arial"/>
              </a:rPr>
              <a:t>Operators and partnerships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4608575"/>
            <a:ext cx="4769967" cy="65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46505C"/>
                </a:solidFill>
                <a:latin typeface="Arial"/>
              </a:rPr>
              <a:t>Runs manager walkthroughs, pilots and partner introductions.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C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868680"/>
            <a:ext cx="640080" cy="6400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486400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3CCD7"/>
                </a:solidFill>
                <a:latin typeface="Arial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7903420" cy="1081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256"/>
              </a:lnSpc>
            </a:pPr>
            <a:r>
              <a:rPr sz="3800" b="0">
                <a:solidFill>
                  <a:srgbClr val="FFFFFF"/>
                </a:solidFill>
                <a:latin typeface="Georgia"/>
              </a:rPr>
              <a:t>We are looking for managers who will show us their recent move-outs.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2772664"/>
            <a:ext cx="5135727" cy="0"/>
          </a:xfrm>
          <a:prstGeom prst="line">
            <a:avLst/>
          </a:prstGeom>
          <a:ln w="9525">
            <a:solidFill>
              <a:srgbClr val="2A3A4E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685800" y="2955544"/>
            <a:ext cx="5135727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3CCD7"/>
                </a:solidFill>
                <a:latin typeface="Arial"/>
              </a:rPr>
              <a:t>PROPERTY MANAGERS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87776"/>
            <a:ext cx="5135727" cy="1102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Walk us through your recent move-outs.</a:t>
            </a:r>
          </a:p>
          <a:p>
            <a:pPr algn="l">
              <a:lnSpc>
                <a:spcPts val="256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Run your next 20 through a $1,000 fixed-fee pilot. You approve every charge.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370167" y="2772664"/>
            <a:ext cx="5135728" cy="0"/>
          </a:xfrm>
          <a:prstGeom prst="line">
            <a:avLst/>
          </a:prstGeom>
          <a:ln w="9525">
            <a:solidFill>
              <a:srgbClr val="2A3A4E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6370167" y="2955544"/>
            <a:ext cx="5135727" cy="1950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36"/>
              </a:lnSpc>
            </a:pPr>
            <a:r>
              <a:rPr sz="1200" b="1" spc="144">
                <a:solidFill>
                  <a:srgbClr val="C3CCD7"/>
                </a:solidFill>
                <a:latin typeface="Arial"/>
              </a:rPr>
              <a:t>INVESTORS AND ADVISORS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287776"/>
            <a:ext cx="5135727" cy="650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60"/>
              </a:lnSpc>
            </a:pPr>
            <a:r>
              <a:rPr sz="2000" b="0">
                <a:solidFill>
                  <a:srgbClr val="FFFFFF"/>
                </a:solidFill>
                <a:latin typeface="Arial"/>
              </a:rPr>
              <a:t>Introduce us to third-party managers of NYC walk-ups and small multifamily buildings.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030216"/>
            <a:ext cx="10820095" cy="39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120"/>
              </a:lnSpc>
            </a:pPr>
            <a:r>
              <a:rPr sz="2600" b="0">
                <a:solidFill>
                  <a:srgbClr val="F08A5D"/>
                </a:solidFill>
                <a:latin typeface="Georgia"/>
              </a:rPr>
              <a:t>Which move-outs in the next two months could we run with you?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2695" y="63367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ts val="1300"/>
              </a:lnSpc>
            </a:pPr>
            <a:r>
              <a:rPr sz="1000" b="0">
                <a:solidFill>
                  <a:srgbClr val="8C99A8"/>
                </a:solidFill>
                <a:latin typeface="Arial"/>
              </a:rPr>
              <a:t>Handoff   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