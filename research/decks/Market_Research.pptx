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 of the public sources named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HUD/Census Rental Housing Finance Survey 2021; Terner Center, Small Multifamily Rental Properties (2024); the 50+ share is Handoff analysis of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NAA, Apartment Turnover (2025); NAA and AppFolio, 2025 Top Challenges Report (n=1,984); Buildium, 2026 Rental Owners' Survey; quote: r/Landlord (May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NARPM Financial Benchmarks Guide (2019, 2017 data). The $9 profit and the tool cost are Handoff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Census Housing Vacancy Survey, Q2 2026; NMHC (2025); NAA, Apartment Turnover (2025). 8.6M is Handoff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Handoff analysis of Census HVS, NMHC, NAA Income/Expense IQ 2024, NAA Apartment Turnover, Invitation Homes and MAA 2025 results, Belong (2026) and the FTC rental-fee notice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Belong (2026); Handoff analysis of Invitation Homes and MAA 2025 results; N.Y. Gen. Oblig. Law § 7-108(1-a)(e); Roost renter survey (2021); NAA, Multifamily Debt Collections (2019).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NAA, Multifamily Debt Collections (2019); the net range is Handoff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Obligo (PR Newswire, June 2026); AppFolio newsroom (2025); Entrata press (2024, 2025); TurnOps, My AI Front Desk and Vendoroo websites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Multifamily Dive (Oct 2022); Entrata press (June 2024); AppFolio newsroom (Oct 2024); PR Newswire (Jan 2025); GlobeNewswire (Sept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Laws 2019, ch. 36, Part M; FTC (2024, 2026); Colorado HB25-1249; Virginia 2026 amendments; Michigan Public Act 102 of 2026; NYC DCWP debt-collection rule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Obligo (PR Newswire, June 2026); FTC rental-fee notice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783080"/>
            <a:ext cx="64008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29968"/>
            <a:ext cx="7315200" cy="21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</a:pPr>
            <a:r>
              <a:rPr sz="1300" b="1" spc="156">
                <a:solidFill>
                  <a:srgbClr val="C3CCD7"/>
                </a:solidFill>
                <a:latin typeface="Arial"/>
              </a:rPr>
              <a:t>MARKET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973808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80"/>
              </a:lnSpc>
            </a:pPr>
            <a:r>
              <a:rPr sz="6000" b="0">
                <a:solidFill>
                  <a:srgbClr val="FFFFFF"/>
                </a:solidFill>
                <a:latin typeface="Georgia"/>
              </a:rPr>
              <a:t>The move-out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11296"/>
            <a:ext cx="7401818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Who runs move-outs for small rental buildings, how much money moves through them, and who else sells into them.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897880"/>
            <a:ext cx="10820095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2"/>
              </a:lnSpc>
            </a:pPr>
            <a:r>
              <a:rPr sz="1400" b="0">
                <a:solidFill>
                  <a:srgbClr val="C3CCD7"/>
                </a:solidFill>
                <a:latin typeface="Arial"/>
              </a:rPr>
              <a:t>Handoff · September 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72185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Move-outs are frequent, costly and more regulated each year, and small managers run them by 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 of the public sources named on the following 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513572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22199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2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620264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Third-party managers of small buildings and scattered homes. No on-site staff; vendors, phone and email do the work.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70167" y="2039112"/>
            <a:ext cx="513572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70167" y="2221992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7095" y="2221992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The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7095" y="2620264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About 8.6M renter moves a year. Direct turn spend is $8–38B; about $5.7B in deposits is settled.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818128"/>
            <a:ext cx="513572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400100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001008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The 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399280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Platforms and new AI tools each sell a part of the move-out. The manager still owns the result.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70167" y="3818128"/>
            <a:ext cx="513572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370167" y="4001008"/>
            <a:ext cx="5669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7095" y="4001008"/>
            <a:ext cx="4568799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The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7095" y="4399280"/>
            <a:ext cx="4568799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Deposit and move-out rules are tightening in several states, and the FTC opened a rental-fee rulemaking in 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The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4552671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Who runs move-outs in small rental buildings, and how they 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The move-out market   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WHERE THE UNITS 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702677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Almost two thirds of US rental units are in buildings of fewer than 50 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HUD/Census Rental Housing Finance Survey 2021; Terner Center, Small Multifamily Rental Properties (2024); the 50+ share is Handoff analysis of 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Share of US rental units, by size of property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108960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31738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5374538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20%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7316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7640116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62895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9905695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1 to 4 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514600"/>
            <a:ext cx="5210830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1854" y="2514600"/>
            <a:ext cx="566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6718" y="250545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46%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81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5 to 49 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081528"/>
            <a:ext cx="1925741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6765" y="3081528"/>
            <a:ext cx="566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1629" y="307238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4845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50 or more units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648456"/>
            <a:ext cx="4191320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2344" y="3648456"/>
            <a:ext cx="5669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7208" y="363931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37%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90872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672584"/>
            <a:ext cx="6104596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Only 22% of 1–4 unit properties are managed professionally, against 84% of those with 150+ 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THEY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24856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manager coordinates the move-out; the owner approves and pays.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NAA, Apartment Turnover (2025); NAA and AppFolio, 2025 Top Challenges Report (n=1,984); Buildium, 2026 Rental Owners' Survey; quote: r/Landlord (May 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NO ON-SITE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6792"/>
            <a:ext cx="3332378" cy="159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Vendors, phone and email do the work.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At one 300-unit property, managing contractors took up to 15 staff hours a week.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9658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4429658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ERRORS ARE COMMON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526792"/>
            <a:ext cx="3332378" cy="159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48% of operators are completely confident that turn best practices are always followed.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About half find costly errors daily or weekly.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3516" y="2039112"/>
            <a:ext cx="3332379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8173516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OWNER DECIDES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526792"/>
            <a:ext cx="3332378" cy="159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84% of owners want to approve large repairs first.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Poor communication is the top reason owners switch managers (57%).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00880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2592"/>
            <a:ext cx="5986860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“It's all happening in spreadsheets and texts outside the platform.” A manager of about 100 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MANAGER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30175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manager earns about $9 a unit a month, so the owner pays for the move-out.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NARPM Financial Benchmarks Guide (2019, 2017 data). The $9 profit and the tool cost are Handoff 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130552"/>
            <a:ext cx="2430703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average adjusted profit margin of a management firm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2263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3482263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$1,809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revenue per managed unit a year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78727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278727" y="2112264"/>
            <a:ext cx="548640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C2410C"/>
                </a:solidFill>
                <a:latin typeface="Arial"/>
              </a:rPr>
              <a:t>~$9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profit per unit a month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191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9075191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of owners leave their manager each 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78274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59986"/>
            <a:ext cx="6063836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$150–400 turn tool at 30% turnover costs $45 to $120 per unit a year: up to a manager's whole profit.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5241540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How often units turn over, what a turn costs, and what moves at the settlement.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The move-out market   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FREQUENCY AND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990645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About 8.6 million renter households move each year, and a move-out costs about $1,800.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Census Housing Vacancy Survey, Q2 2026; NMHC (2025); NAA, Apartment Turnover (2025). 8.6M is Handoff 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130552"/>
            <a:ext cx="2430703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46.8M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6402"/>
            <a:ext cx="233926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renter-occupied homes, Q2 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2263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3482263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18.3%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3216402"/>
            <a:ext cx="233926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of renter households moved in 2024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78727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278727" y="2112264"/>
            <a:ext cx="548640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C2410C"/>
                </a:solidFill>
                <a:latin typeface="Arial"/>
              </a:rPr>
              <a:t>8.6M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216402"/>
            <a:ext cx="233926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renter moves a year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191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9075191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$1,800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3216402"/>
            <a:ext cx="233926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NAA's conservative cost of one move-out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85666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67378"/>
            <a:ext cx="5814978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NAA reports seven working days as a typical make-ready guideline, with targets of three to five.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ANNUAL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85534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Turn spend is the largest pool. Deposits are smaller, but settle on a legal clock.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 of Census HVS, NMHC, NAA Income/Expense IQ 2024, NAA Apartment Turnover, Invitation Homes and MAA 2025 results, Belong (2026) and the FTC rental-fee notice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US annual pools, $ billions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468880"/>
            <a:ext cx="0" cy="2084832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657600" y="459943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$0B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76823" y="2468880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5219623" y="459943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$10B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8847" y="2468880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6781647" y="459943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$20B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00871" y="2468880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8343671" y="459943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$30B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62895" y="2468880"/>
            <a:ext cx="0" cy="2084832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6" name="TextBox 15"/>
          <p:cNvSpPr txBox="1"/>
          <p:nvPr/>
        </p:nvSpPr>
        <p:spPr>
          <a:xfrm>
            <a:off x="9905695" y="459943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$40B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Direct spend on unit turns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651760"/>
            <a:ext cx="1249619" cy="18288"/>
          </a:xfrm>
          <a:prstGeom prst="rect">
            <a:avLst/>
          </a:prstGeom>
          <a:solidFill>
            <a:srgbClr val="D9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64419" y="2514600"/>
            <a:ext cx="4686071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05354" y="2514600"/>
            <a:ext cx="9098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0218" y="250545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$8–38B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815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Rent lost while units sit vacant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218688"/>
            <a:ext cx="468607" cy="18288"/>
          </a:xfrm>
          <a:prstGeom prst="rect">
            <a:avLst/>
          </a:prstGeom>
          <a:solidFill>
            <a:srgbClr val="D9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83407" y="3081528"/>
            <a:ext cx="1405821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44092" y="3081528"/>
            <a:ext cx="9098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8956" y="307238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$3–12B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4845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Deposits settled at move-out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648456"/>
            <a:ext cx="890353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017" y="3648456"/>
            <a:ext cx="7193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4881" y="363931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$5.7B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2153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Bad debt written 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352544"/>
            <a:ext cx="546708" cy="18288"/>
          </a:xfrm>
          <a:prstGeom prst="rect">
            <a:avLst/>
          </a:prstGeom>
          <a:solidFill>
            <a:srgbClr val="D9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08" y="4215384"/>
            <a:ext cx="124961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1334" y="4215384"/>
            <a:ext cx="11638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6198" y="420624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$3.5–4.3B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257800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239512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No one publishes a national turn-cost series, so the turn ranges are 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WHERE THE VALUE 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37678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turn is the larger spend. The settlement is where deadlines and evidence decide the 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Belong (2026); Handoff analysis of Invitation Homes and MAA 2025 results; N.Y. Gen. Oblig. Law § 7-108(1-a)(e); Roost renter survey (2021); NAA, Multifamily Debt Collections (2019).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39112"/>
            <a:ext cx="5204307" cy="358749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39112"/>
            <a:ext cx="5204307" cy="54864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465566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99944"/>
            <a:ext cx="4655667" cy="365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2400" b="0">
                <a:solidFill>
                  <a:srgbClr val="15202B"/>
                </a:solidFill>
                <a:latin typeface="Georgia"/>
              </a:rPr>
              <a:t>Larger and crowded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94304"/>
            <a:ext cx="465566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Cost.</a:t>
            </a:r>
            <a:r>
              <a:rPr sz="1800" b="0">
                <a:solidFill>
                  <a:srgbClr val="15202B"/>
                </a:solidFill>
                <a:latin typeface="Arial"/>
              </a:rPr>
              <a:t> $957 to $4,480 of direct cost per turn.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587496"/>
            <a:ext cx="465566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0120" y="3688080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Value.</a:t>
            </a:r>
            <a:r>
              <a:rPr sz="1800" b="0">
                <a:solidFill>
                  <a:srgbClr val="15202B"/>
                </a:solidFill>
                <a:latin typeface="Arial"/>
              </a:rPr>
              <a:t> Vacant days saved: about $55 a day at a $1,687 rent.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4373879"/>
            <a:ext cx="465566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960120" y="4474463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Competition.</a:t>
            </a:r>
            <a:r>
              <a:rPr sz="1800" b="0">
                <a:solidFill>
                  <a:srgbClr val="15202B"/>
                </a:solidFill>
                <a:latin typeface="Arial"/>
              </a:rPr>
              <a:t> Platforms ship make-ready boards and maintenance agents.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1587" y="2039112"/>
            <a:ext cx="5204307" cy="358749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039112"/>
            <a:ext cx="5204307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5907" y="2313432"/>
            <a:ext cx="465566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5907" y="2599944"/>
            <a:ext cx="4655667" cy="365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2400" b="0">
                <a:solidFill>
                  <a:srgbClr val="15202B"/>
                </a:solidFill>
                <a:latin typeface="Georgia"/>
              </a:rPr>
              <a:t>Smaller, with hard 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5907" y="3194304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Deadline.</a:t>
            </a:r>
            <a:r>
              <a:rPr sz="1800" b="0">
                <a:solidFill>
                  <a:srgbClr val="15202B"/>
                </a:solidFill>
                <a:latin typeface="Arial"/>
              </a:rPr>
              <a:t> 14 days in New York, with forfeiture on a miss.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75907" y="3880103"/>
            <a:ext cx="465566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575907" y="3980687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Evidence.</a:t>
            </a:r>
            <a:r>
              <a:rPr sz="1800" b="0">
                <a:solidFill>
                  <a:srgbClr val="15202B"/>
                </a:solidFill>
                <a:latin typeface="Arial"/>
              </a:rPr>
              <a:t> 52% of renters took no move-in photos (2021 vendor survey).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75907" y="4666487"/>
            <a:ext cx="465566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75907" y="4767071"/>
            <a:ext cx="465566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Recovery.</a:t>
            </a:r>
            <a:r>
              <a:rPr sz="1800" b="0">
                <a:solidFill>
                  <a:srgbClr val="15202B"/>
                </a:solidFill>
                <a:latin typeface="Arial"/>
              </a:rPr>
              <a:t> Agencies recover 15–20% of what is owed and keep 20–40% of that.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92399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dollar settled at move-out is worth several dollars chased 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NAA, Multifamily Debt Collections (2019); the net range is Handoff 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9112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Of $100 owed by a former tenant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206240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8303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5631103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13167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7055967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38031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8480831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$75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62895" y="2468880"/>
            <a:ext cx="0" cy="1517904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6" name="TextBox 15"/>
          <p:cNvSpPr txBox="1"/>
          <p:nvPr/>
        </p:nvSpPr>
        <p:spPr>
          <a:xfrm>
            <a:off x="9905695" y="40325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$100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Owed at move-out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514600"/>
            <a:ext cx="5699455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17759" y="2514600"/>
            <a:ext cx="6177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2623" y="250545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$100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8152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Recovered by a collection agency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218688"/>
            <a:ext cx="854918" cy="18288"/>
          </a:xfrm>
          <a:prstGeom prst="rect">
            <a:avLst/>
          </a:prstGeom>
          <a:solidFill>
            <a:srgbClr val="D9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18358" y="3081528"/>
            <a:ext cx="284972" cy="292608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8195" y="3081528"/>
            <a:ext cx="8717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13059" y="307238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$15–20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4845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Left after the agency's fee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785616"/>
            <a:ext cx="512950" cy="18288"/>
          </a:xfrm>
          <a:prstGeom prst="rect">
            <a:avLst/>
          </a:prstGeom>
          <a:solidFill>
            <a:srgbClr val="D9DD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76390" y="3648456"/>
            <a:ext cx="398961" cy="2926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30216" y="3648456"/>
            <a:ext cx="74472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85080" y="3639312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C2410C"/>
                </a:solidFill>
                <a:latin typeface="Arial"/>
              </a:rPr>
              <a:t>$9–16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690872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72584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NAA advises sending balances to collection within 30 days of move-out.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The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4458705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Who sells into the move-out today, and how those companies 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The move-out market   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55327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Platforms and new AI tools each sell a part of the move-out.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Obligo (PR Newswire, June 2026); AppFolio newsroom (2025); Entrata press (2024, 2025); TurnOps, My AI Front Desk and Vendoroo websites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1972353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3913" y="2039112"/>
            <a:ext cx="6465443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IT SELLS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7956" y="2039112"/>
            <a:ext cx="14221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PART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25624"/>
            <a:ext cx="10820095" cy="0"/>
          </a:xfrm>
          <a:prstGeom prst="line">
            <a:avLst/>
          </a:prstGeom>
          <a:ln w="12700">
            <a:solidFill>
              <a:srgbClr val="15202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2453640"/>
            <a:ext cx="197235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Obligo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3913" y="2453640"/>
            <a:ext cx="646544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Deposit Agent inside Yardi, RealPage, AppFolio and Buildium 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7956" y="2453640"/>
            <a:ext cx="142217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Settlement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30296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240024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AppFolio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913" y="3240024"/>
            <a:ext cx="646544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Realm-X agents for leasing and maintenance (June 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7956" y="3240024"/>
            <a:ext cx="142217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Turn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624072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3733800"/>
            <a:ext cx="197235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Entrata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3913" y="3733800"/>
            <a:ext cx="646544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Make-ready boards (2025); Colleen AI for former-resident debt 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956" y="3733800"/>
            <a:ext cx="142217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Turn, balance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410456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22960" y="4520184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TurnOps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3913" y="4520184"/>
            <a:ext cx="646544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AI damage documentation for unit 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7956" y="4520184"/>
            <a:ext cx="142217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Turn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904232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2960" y="5013960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My AI Front Desk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3913" y="5013960"/>
            <a:ext cx="646544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 move-out assistant from notice to final 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7956" y="5013960"/>
            <a:ext cx="142217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Settlement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398008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822960" y="5507736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Vendoroo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3913" y="5507736"/>
            <a:ext cx="646544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An AI maintenance coordinator backed by a human expert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956" y="5507736"/>
            <a:ext cx="142217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Maintenance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POINT TOOLS 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16842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Point tools in this market end up inside a larger 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Multifamily Dive (Oct 2022); Entrata press (June 2024); AppFolio newsroom (Oct 2024); PR Newswire (Jan 2025); GlobeNewswire (Sept 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2167128"/>
            <a:ext cx="8355101" cy="0"/>
          </a:xfrm>
          <a:prstGeom prst="line">
            <a:avLst/>
          </a:prstGeom>
          <a:ln w="19050">
            <a:solidFill>
              <a:srgbClr val="D9DDE2"/>
            </a:solidFill>
          </a:ln>
        </p:spPr>
      </p:cxnSp>
      <p:sp>
        <p:nvSpPr>
          <p:cNvPr id="7" name="Oval 6"/>
          <p:cNvSpPr/>
          <p:nvPr/>
        </p:nvSpPr>
        <p:spPr>
          <a:xfrm>
            <a:off x="685800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12872"/>
            <a:ext cx="246499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RealPage buys Knock, a leasing CRM.</a:t>
            </a:r>
          </a:p>
        </p:txBody>
      </p:sp>
      <p:sp>
        <p:nvSpPr>
          <p:cNvPr id="10" name="Oval 9"/>
          <p:cNvSpPr/>
          <p:nvPr/>
        </p:nvSpPr>
        <p:spPr>
          <a:xfrm>
            <a:off x="3470833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2912872"/>
            <a:ext cx="246499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Entrata buys Colleen AI, and AppFolio buys LiveEasy.</a:t>
            </a:r>
          </a:p>
        </p:txBody>
      </p:sp>
      <p:sp>
        <p:nvSpPr>
          <p:cNvPr id="13" name="Oval 12"/>
          <p:cNvSpPr/>
          <p:nvPr/>
        </p:nvSpPr>
        <p:spPr>
          <a:xfrm>
            <a:off x="6255867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5867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2912872"/>
            <a:ext cx="246499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Property Meld buys Mezo, a maintenance AI.</a:t>
            </a:r>
          </a:p>
        </p:txBody>
      </p:sp>
      <p:sp>
        <p:nvSpPr>
          <p:cNvPr id="16" name="Oval 15"/>
          <p:cNvSpPr/>
          <p:nvPr/>
        </p:nvSpPr>
        <p:spPr>
          <a:xfrm>
            <a:off x="9040901" y="2057400"/>
            <a:ext cx="219456" cy="21945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0901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901" y="2912872"/>
            <a:ext cx="246499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Venn buys Zuma, an AI leasing agent, for $50M.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74744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56456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Venn says it gives the software away and charges for “agentic outcomes.”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>
                <a:solidFill>
                  <a:srgbClr val="C2410C"/>
                </a:solidFill>
                <a:latin typeface="Arial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697480"/>
            <a:ext cx="64008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9197080" cy="642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6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Regulation and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3020"/>
            <a:ext cx="5476307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How the rules around move-outs are changing, and what could break the thesis.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The move-out market   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REGULATION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31587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Deposit and move-out rules are tightening at the state, city and federal 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Laws 2019, ch. 36, Part M; FTC (2024, 2026); Colorado HB25-1249; Virginia 2026 amendments; Michigan Public Act 102 of 2026; NYC DCWP debt-collection rule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105539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6955" y="2039112"/>
            <a:ext cx="1788961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4517" y="2039112"/>
            <a:ext cx="701561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CHANGED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25624"/>
            <a:ext cx="10820095" cy="0"/>
          </a:xfrm>
          <a:prstGeom prst="line">
            <a:avLst/>
          </a:prstGeom>
          <a:ln w="12700">
            <a:solidFill>
              <a:srgbClr val="15202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2453640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Jul 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6955" y="2453640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New York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4517" y="2453640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14-day itemized statement, or the deposit is forfeited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837688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2947416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Sep 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6955" y="2947416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FTC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4517" y="2947416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$48M Invitation Homes settlement, including withheld deposits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331464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3441192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Jan 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6955" y="3441192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Colorado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4517" y="3441192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Keeping 125% of actual damages or more presumed unreasonable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825240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22960" y="3934968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Mar 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6955" y="3934968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FTC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4517" y="3934968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Rulemaking on rental fees “from application to moveout.”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319016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2960" y="4428744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Jul 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6955" y="4428744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Virginia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4517" y="4428744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Limits on processing and maintenance fees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812792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822960" y="4922520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Sep 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6955" y="4922520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Michigan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24517" y="4922520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Refund paid into the tenant's account within 10 days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306568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822960" y="5416296"/>
            <a:ext cx="10553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Jan 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6955" y="5416296"/>
            <a:ext cx="1788961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New York 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24517" y="5416296"/>
            <a:ext cx="701561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Debt-collection rules reach landlords' own collection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9521683" cy="434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Six risks could break the 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Obligo (PR Newswire, June 2026); FTC rental-fee notice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The move-out market   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4772"/>
            <a:ext cx="5135727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The settlement is contested.</a:t>
            </a:r>
            <a:r>
              <a:rPr sz="1800" b="0">
                <a:solidFill>
                  <a:srgbClr val="15202B"/>
                </a:solidFill>
                <a:latin typeface="Arial"/>
              </a:rPr>
              <a:t> Obligo's deposit agent already runs inside the major property-management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604772"/>
            <a:ext cx="5135727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Per-event dollars are small.</a:t>
            </a:r>
            <a:r>
              <a:rPr sz="1800" b="0">
                <a:solidFill>
                  <a:srgbClr val="15202B"/>
                </a:solidFill>
                <a:latin typeface="Arial"/>
              </a:rPr>
              <a:t> The median deposit is $795, so the price must come from the owner or from recovered charges.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610612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2738628"/>
            <a:ext cx="51357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Collection carries legal weight.</a:t>
            </a:r>
            <a:r>
              <a:rPr sz="1800" b="0">
                <a:solidFill>
                  <a:srgbClr val="15202B"/>
                </a:solidFill>
                <a:latin typeface="Arial"/>
              </a:rPr>
              <a:t> Recovering a balance brings debt-collection and licensing 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738628"/>
            <a:ext cx="51357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Managers may resist transparency.</a:t>
            </a:r>
            <a:r>
              <a:rPr sz="1800" b="0">
                <a:solidFill>
                  <a:srgbClr val="15202B"/>
                </a:solidFill>
                <a:latin typeface="Arial"/>
              </a:rPr>
              <a:t> An itemized account can expose markups on vendor work.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451860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85800" y="3579876"/>
            <a:ext cx="5135727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Nothing is measured yet.</a:t>
            </a:r>
            <a:r>
              <a:rPr sz="1800" b="0">
                <a:solidFill>
                  <a:srgbClr val="15202B"/>
                </a:solidFill>
                <a:latin typeface="Arial"/>
              </a:rPr>
              <a:t> No manager has paid for a completed move-out, so price and results are untested.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579876"/>
            <a:ext cx="5135727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Maintenance has more volume.</a:t>
            </a:r>
            <a:r>
              <a:rPr sz="1800" b="0">
                <a:solidFill>
                  <a:srgbClr val="15202B"/>
                </a:solidFill>
                <a:latin typeface="Arial"/>
              </a:rPr>
              <a:t> Repairs in occupied units happen more often than move-outs, and tools there are crowded.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41748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23460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The paid pilot is the first test: whether managers pay per move-out, and how much.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