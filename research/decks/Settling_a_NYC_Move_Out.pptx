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NYC Admin. Code § 26-504; N.Y. Gen. Oblig. Law §§ 7-107, 7-108(1), (1-a); N.Y. Laws 2019, ch. 36, Part M, § 29; N.Y. Real Prop. Law § 232-c.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Multiple Dwelling Law §§ 4(7), 301(1), 302(1)(b), 302-a(3), 325(2).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Gen. Oblig. Law §§ 7-103(1), (2), (2-a), (2-b), 7-108(1-a)(a), (c); Paterno v Carroll, 75 AD3d 625 (2d Dept 2010).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Gen. Oblig. Law § 7-108(1-a)(b), (c); N.Y. Real Prop. Law §§ 234-a, 238-a; NYC Admin. Code §§ 20-699.21, 20-699.22 (FARE Act, from June 11,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General Construction Law §§ 20, 25-a; N.Y. Gen. Oblig. Law § 7-108(1-a)(e); Cohen v Abruzzo, 228 AD3d 724 (2024); 14 E. 4th St. v Toporek, 203 AD3d 17 (2022); Pickens v Lane (2023).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Gen. Oblig. Law § 7-108(1-a)(e)–(g); Prando v Kelly (App Term 2d Dept 2021); Levine v Xu-Kehrli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CPLR §§ 213(2), 5001, 5004; 15 U.S.C. § 1692a(6); NYC Admin. Code § 20-489; N.Y. Real Prop. Law § 440(1); NYC DCWP debt-collection rule (6 RCNY 5-76, 5-77).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General Construction Law §§ 20, 24, 25-a; N.Y. Gen. Oblig. Law § 7-108(1-a)(e).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illustrative amounts; NYC Admin. Code § 27-2013(a), (b)(2); N.Y. Gen. Oblig. Law § 7-108(1-a)(b).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illustrative amounts; Handoff reading of N.Y. Gen. Oblig. Law §§ 7-103(1), 7-108(1-a)(e) and N.Y. General Construction Law §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illustrative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783080"/>
            <a:ext cx="64008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29968"/>
            <a:ext cx="7315200" cy="21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</a:pPr>
            <a:r>
              <a:rPr sz="1300" b="1" spc="156">
                <a:solidFill>
                  <a:srgbClr val="C3CCD7"/>
                </a:solidFill>
                <a:latin typeface="Arial"/>
              </a:rPr>
              <a:t>THE SETTLEMENT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685661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80"/>
              </a:lnSpc>
            </a:pPr>
            <a:r>
              <a:rPr sz="6000" b="0">
                <a:solidFill>
                  <a:srgbClr val="FFFFFF"/>
                </a:solidFill>
                <a:latin typeface="Georgia"/>
              </a:rPr>
              <a:t>Settling a New York City move-out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34256"/>
            <a:ext cx="7102921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What the law requires of a manager when a market-rate tenant leaves, and how Handoff handles each step.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897880"/>
            <a:ext cx="10820095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2"/>
              </a:lnSpc>
            </a:pPr>
            <a:r>
              <a:rPr sz="1400" b="0">
                <a:solidFill>
                  <a:srgbClr val="C3CCD7"/>
                </a:solidFill>
                <a:latin typeface="Arial"/>
              </a:rPr>
              <a:t>Handoff · September 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51221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move-out settlement in New York City runs in six 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41832" y="2386584"/>
            <a:ext cx="9245346" cy="0"/>
          </a:xfrm>
          <a:prstGeom prst="line">
            <a:avLst/>
          </a:prstGeom>
          <a:ln w="19050">
            <a:solidFill>
              <a:srgbClr val="D9DDE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685800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Can rent be recovered at all?</a:t>
            </a:r>
          </a:p>
        </p:txBody>
      </p:sp>
      <p:sp>
        <p:nvSpPr>
          <p:cNvPr id="10" name="Oval 9"/>
          <p:cNvSpPr/>
          <p:nvPr/>
        </p:nvSpPr>
        <p:spPr>
          <a:xfrm>
            <a:off x="2534869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4869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4869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Deposit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4869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What is held, and what interest is owed?</a:t>
            </a:r>
          </a:p>
        </p:txBody>
      </p:sp>
      <p:sp>
        <p:nvSpPr>
          <p:cNvPr id="14" name="Oval 13"/>
          <p:cNvSpPr/>
          <p:nvPr/>
        </p:nvSpPr>
        <p:spPr>
          <a:xfrm>
            <a:off x="4383938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3938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938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Charges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938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What may be kept, and what never?</a:t>
            </a:r>
          </a:p>
        </p:txBody>
      </p:sp>
      <p:sp>
        <p:nvSpPr>
          <p:cNvPr id="18" name="Oval 17"/>
          <p:cNvSpPr/>
          <p:nvPr/>
        </p:nvSpPr>
        <p:spPr>
          <a:xfrm>
            <a:off x="6233007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What is due by day 14, and where it goes.</a:t>
            </a:r>
          </a:p>
        </p:txBody>
      </p:sp>
      <p:sp>
        <p:nvSpPr>
          <p:cNvPr id="22" name="Oval 21"/>
          <p:cNvSpPr/>
          <p:nvPr/>
        </p:nvSpPr>
        <p:spPr>
          <a:xfrm>
            <a:off x="8082076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2076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2076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A 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2076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What missing day 14 costs.</a:t>
            </a:r>
          </a:p>
        </p:txBody>
      </p:sp>
      <p:sp>
        <p:nvSpPr>
          <p:cNvPr id="26" name="Oval 25"/>
          <p:cNvSpPr/>
          <p:nvPr/>
        </p:nvSpPr>
        <p:spPr>
          <a:xfrm>
            <a:off x="9931146" y="2130552"/>
            <a:ext cx="512064" cy="512064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1146" y="21305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1146" y="2916936"/>
            <a:ext cx="157474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1146" y="3333496"/>
            <a:ext cx="1529029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Who may collect what is still owed.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887976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69688"/>
            <a:ext cx="9369248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Handoff's settlement applies every deadline, cap and barred charge for a New York City market-rate unit, each tied to the statute or decision it comes 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WHICH RULES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9521683" cy="434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rules depend on the unit's status and the lease 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NYC Admin. Code § 26-504; N.Y. Gen. Oblig. Law §§ 7-107, 7-108(1), (1-a); N.Y. Laws 2019, ch. 36, Part M, § 29; N.Y. Real Prop. Law § 232-c.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4772"/>
            <a:ext cx="4937760" cy="979424"/>
          </a:xfrm>
          <a:prstGeom prst="roundRect">
            <a:avLst>
              <a:gd name="adj" fmla="val 4668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4772"/>
            <a:ext cx="4480560" cy="979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Is the unit rent-stabilized, or under rent control?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59575" y="1604772"/>
            <a:ext cx="4846320" cy="979424"/>
          </a:xfrm>
          <a:prstGeom prst="roundRect">
            <a:avLst>
              <a:gd name="adj" fmla="val 4668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8175" y="1604772"/>
            <a:ext cx="4389120" cy="979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Different rules apply. Handoff routes the unit to the manager.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094484"/>
            <a:ext cx="1008583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5852160" y="17653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7B8591"/>
                </a:solidFill>
                <a:latin typeface="Arial"/>
              </a:rPr>
              <a:t>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2584196"/>
            <a:ext cx="0" cy="384048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1417320" y="26482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7B8591"/>
                </a:solidFill>
                <a:latin typeface="Arial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5676"/>
            <a:ext cx="4937760" cy="1207008"/>
          </a:xfrm>
          <a:prstGeom prst="roundRect">
            <a:avLst>
              <a:gd name="adj" fmla="val 3787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95676"/>
            <a:ext cx="4480560" cy="12070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Was the lease signed, renewed or continued on or after July 14, 2019?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9575" y="2995676"/>
            <a:ext cx="4846320" cy="1207008"/>
          </a:xfrm>
          <a:prstGeom prst="roundRect">
            <a:avLst>
              <a:gd name="adj" fmla="val 3787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8175" y="2995676"/>
            <a:ext cx="4389120" cy="12070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General Obligations Law § 7-108(1-a): one-month cap, inspections, the 14-day statement, forfeiture.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3599180"/>
            <a:ext cx="1008583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5852160" y="32699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7B8591"/>
                </a:solidFill>
                <a:latin typeface="Arial"/>
              </a:rP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4202684"/>
            <a:ext cx="0" cy="384048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1417320" y="42666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7B8591"/>
                </a:solidFill>
                <a:latin typeface="Arial"/>
              </a:rP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14164"/>
            <a:ext cx="4937760" cy="950976"/>
          </a:xfrm>
          <a:prstGeom prst="roundRect">
            <a:avLst>
              <a:gd name="adj" fmla="val 4807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4164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common-law rule and the lease's own return 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The law, step by 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8046720" cy="35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What a manager must do at each step, and what Handoff 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Settling a NYC move-out   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1 · RENT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620750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Three building facts decide whether rent can be recovered at 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N.Y. Multiple Dwelling Law §§ 4(7), 301(1), 302(1)(b), 302-a(3), 325(2).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39112"/>
            <a:ext cx="675101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THE LAW REQUIRES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17064"/>
            <a:ext cx="6751015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Certificate of occupancy.</a:t>
            </a:r>
            <a:r>
              <a:rPr sz="1800" b="0">
                <a:solidFill>
                  <a:srgbClr val="15202B"/>
                </a:solidFill>
                <a:latin typeface="Arial"/>
              </a:rPr>
              <a:t> A building built or converted for three or more families after 1929 needs a certificate for that use. Without one, the owner recovers no rent for the period, by suit, setoff or keeping the deposit.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697224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3806952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Registration.</a:t>
            </a:r>
            <a:r>
              <a:rPr sz="1800" b="0">
                <a:solidFill>
                  <a:srgbClr val="15202B"/>
                </a:solidFill>
                <a:latin typeface="Arial"/>
              </a:rPr>
              <a:t> An owner that has not registered with HPD recovers no rent until it does; then the rent that built up is owed.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501896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" y="4611624"/>
            <a:ext cx="6751015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Rent-impairing violations.</a:t>
            </a:r>
            <a:r>
              <a:rPr sz="1800" b="0">
                <a:solidFill>
                  <a:srgbClr val="15202B"/>
                </a:solidFill>
                <a:latin typeface="Arial"/>
              </a:rPr>
              <a:t> No rent while such a violation stays uncorrected six months after notice, unless the tenant caused it or refused access.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9735" y="2039112"/>
            <a:ext cx="3566160" cy="345033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9735" y="2039112"/>
            <a:ext cx="35661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055" y="2313432"/>
            <a:ext cx="301752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HANDOFF HANDLES 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4055" y="2673096"/>
            <a:ext cx="3017520" cy="217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Reads the building's certificate, HPD registration and violation record before any rent goes on the account.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 missing fact goes to the manager.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2 · DEPOSIT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655003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deposit is the tenant's money, held in trust, and often earns interest.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Gen. Oblig. Law §§ 7-103(1), (2), (2-a), (2-b), 7-108(1-a)(a), (c); Paterno v Carroll, 75 AD3d 625 (2d Dept 2010).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39112"/>
            <a:ext cx="675101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THE LAW REQUIRES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17064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Cap.</a:t>
            </a:r>
            <a:r>
              <a:rPr sz="1800" b="0">
                <a:solidFill>
                  <a:srgbClr val="15202B"/>
                </a:solidFill>
                <a:latin typeface="Arial"/>
              </a:rPr>
              <a:t> The deposit plus any advance rent may not exceed one month's rent.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12008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3221736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Trust.</a:t>
            </a:r>
            <a:r>
              <a:rPr sz="1800" b="0">
                <a:solidFill>
                  <a:srgbClr val="15202B"/>
                </a:solidFill>
                <a:latin typeface="Arial"/>
              </a:rPr>
              <a:t> The deposit may not be mixed with the landlord's money. Mixing it forfeits the deposit.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916680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" y="4026408"/>
            <a:ext cx="6751015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Interest.</a:t>
            </a:r>
            <a:r>
              <a:rPr sz="1800" b="0">
                <a:solidFill>
                  <a:srgbClr val="15202B"/>
                </a:solidFill>
                <a:latin typeface="Arial"/>
              </a:rPr>
              <a:t> In a building of six or more units, it sits in an interest-bearing New York bank account. The landlord may keep 1% a year.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013960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85800" y="5123688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Move-in record.</a:t>
            </a:r>
            <a:r>
              <a:rPr sz="1800" b="0">
                <a:solidFill>
                  <a:srgbClr val="15202B"/>
                </a:solidFill>
                <a:latin typeface="Arial"/>
              </a:rPr>
              <a:t> If the tenant accepts a joint move-in inspection, nothing on the signed record can be charged later.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9735" y="2039112"/>
            <a:ext cx="3566160" cy="366979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39735" y="2039112"/>
            <a:ext cx="35661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4055" y="2313432"/>
            <a:ext cx="301752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HANDOFF HANDLES 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4055" y="2673096"/>
            <a:ext cx="3017520" cy="188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Records the deposit, the bank, who paid which part, and the signed move-in record.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Code computes the interest owed at the end 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3 · CHARGES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6174165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deposit may be kept for four things, and never for wear and tear.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Gen. Oblig. Law § 7-108(1-a)(b), (c); N.Y. Real Prop. Law §§ 234-a, 238-a; NYC Admin. Code §§ 20-699.21, 20-699.22 (FARE Act, from June 11, 2025).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39112"/>
            <a:ext cx="3950559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MAY BE KEPT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343912"/>
            <a:ext cx="3950559" cy="0"/>
          </a:xfrm>
          <a:prstGeom prst="line">
            <a:avLst/>
          </a:prstGeom>
          <a:ln w="19050">
            <a:solidFill>
              <a:srgbClr val="C2410C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685800" y="2590800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2526792"/>
            <a:ext cx="356651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Unpaid rent already due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066288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002280"/>
            <a:ext cx="356651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Damage beyond normal wear and tear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8343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770376"/>
            <a:ext cx="356651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Utility charges owed under the lease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602480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538472"/>
            <a:ext cx="356651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Moving and storing the tenant's belongings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999" y="2039112"/>
            <a:ext cx="632089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15202B"/>
                </a:solidFill>
                <a:latin typeface="Arial"/>
              </a:rPr>
              <a:t>MAY NOT BE KEPT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84999" y="2343912"/>
            <a:ext cx="6320896" cy="0"/>
          </a:xfrm>
          <a:prstGeom prst="line">
            <a:avLst/>
          </a:prstGeom>
          <a:ln w="19050">
            <a:solidFill>
              <a:srgbClr val="15202B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5184999" y="2590800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226147" y="2673096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569047" y="2526792"/>
            <a:ext cx="2593519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Wear and tear, or a prior tenant's damage</a:t>
            </a:r>
          </a:p>
        </p:txBody>
      </p:sp>
      <p:sp>
        <p:nvSpPr>
          <p:cNvPr id="33" name="Oval 32"/>
          <p:cNvSpPr/>
          <p:nvPr/>
        </p:nvSpPr>
        <p:spPr>
          <a:xfrm>
            <a:off x="8528327" y="2590800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569475" y="2673096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912375" y="2526792"/>
            <a:ext cx="2593519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Anything noted on the move-in record</a:t>
            </a:r>
          </a:p>
        </p:txBody>
      </p:sp>
      <p:sp>
        <p:nvSpPr>
          <p:cNvPr id="36" name="Oval 35"/>
          <p:cNvSpPr/>
          <p:nvPr/>
        </p:nvSpPr>
        <p:spPr>
          <a:xfrm>
            <a:off x="5184999" y="3358896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226147" y="3441192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5569047" y="3294888"/>
            <a:ext cx="259351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Late fees and other fees</a:t>
            </a:r>
          </a:p>
        </p:txBody>
      </p:sp>
      <p:sp>
        <p:nvSpPr>
          <p:cNvPr id="39" name="Oval 38"/>
          <p:cNvSpPr/>
          <p:nvPr/>
        </p:nvSpPr>
        <p:spPr>
          <a:xfrm>
            <a:off x="8528327" y="3358896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569475" y="3441192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912375" y="3294888"/>
            <a:ext cx="2593519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Legal fees without a court order</a:t>
            </a:r>
          </a:p>
        </p:txBody>
      </p:sp>
      <p:sp>
        <p:nvSpPr>
          <p:cNvPr id="42" name="Oval 41"/>
          <p:cNvSpPr/>
          <p:nvPr/>
        </p:nvSpPr>
        <p:spPr>
          <a:xfrm>
            <a:off x="5184999" y="4126992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226147" y="4209288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5569047" y="4062984"/>
            <a:ext cx="259351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 lease-break sum</a:t>
            </a:r>
          </a:p>
        </p:txBody>
      </p:sp>
      <p:sp>
        <p:nvSpPr>
          <p:cNvPr id="45" name="Oval 44"/>
          <p:cNvSpPr/>
          <p:nvPr/>
        </p:nvSpPr>
        <p:spPr>
          <a:xfrm>
            <a:off x="8528327" y="4126992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8569475" y="4209288"/>
            <a:ext cx="82296" cy="0"/>
          </a:xfrm>
          <a:prstGeom prst="line">
            <a:avLst/>
          </a:prstGeom>
          <a:ln w="15875">
            <a:solidFill>
              <a:srgbClr val="15202B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8912375" y="4062984"/>
            <a:ext cx="259351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Any fee charged by the agent who leased the unit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507736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48944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Code bars what the law excludes. The judgment model decides wear and tear or damage.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4 · STATEMENT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813047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itemized statement is due 14 days after the tenant vacates, by a channel that reaches 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General Construction Law §§ 20, 25-a; N.Y. Gen. Oblig. Law § 7-108(1-a)(e); Cohen v Abruzzo, 228 AD3d 724 (2024); 14 E. 4th St. v Toporek, 203 AD3d 17 (2022); Pickens v Lane (2023).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39112"/>
            <a:ext cx="675101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THE LAW REQUIRES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17064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Counting.</a:t>
            </a:r>
            <a:r>
              <a:rPr sz="1800" b="0">
                <a:solidFill>
                  <a:srgbClr val="15202B"/>
                </a:solidFill>
                <a:latin typeface="Arial"/>
              </a:rPr>
              <a:t> Calendar days, not counting the move-out day. Day 14 on a weekend or public holiday moves to the next business day.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12008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3221736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Form.</a:t>
            </a:r>
            <a:r>
              <a:rPr sz="1800" b="0">
                <a:solidFill>
                  <a:srgbClr val="15202B"/>
                </a:solidFill>
                <a:latin typeface="Arial"/>
              </a:rPr>
              <a:t> In writing: a letter, email or text. A phone call does not count.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916680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" y="4026408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Channel.</a:t>
            </a:r>
            <a:r>
              <a:rPr sz="1800" b="0">
                <a:solidFill>
                  <a:srgbClr val="15202B"/>
                </a:solidFill>
                <a:latin typeface="Arial"/>
              </a:rPr>
              <a:t> Use the forwarding address, email or phone on file. Mail to the vacated unit only if there is no other channel.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721352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85800" y="4831080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Estimates.</a:t>
            </a:r>
            <a:r>
              <a:rPr sz="1800" b="0">
                <a:solidFill>
                  <a:srgbClr val="15202B"/>
                </a:solidFill>
                <a:latin typeface="Arial"/>
              </a:rPr>
              <a:t> Allowed if each item is itemized. There is no second statement.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9735" y="2039112"/>
            <a:ext cx="3566160" cy="3377183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39735" y="2039112"/>
            <a:ext cx="35661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4055" y="2313432"/>
            <a:ext cx="301752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HANDOFF HANDLES 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4055" y="2673096"/>
            <a:ext cx="3017520" cy="159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Computes the due date from the vacate evidence.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Sends the statement and refund by a lawful channel and keeps proof of sending.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5 · A MISS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661674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missed deadline forfeits the deposit, and a willful one costs up to twice 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Gen. Oblig. Law § 7-108(1-a)(e)–(g); Prando v Kelly (App Term 2d Dept 2021); Levine v Xu-Kehrli (2026).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1947672"/>
            <a:ext cx="393192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0"/>
              </a:lnSpc>
            </a:pPr>
            <a:r>
              <a:rPr sz="11000" b="1">
                <a:solidFill>
                  <a:srgbClr val="C2410C"/>
                </a:solidFill>
                <a:latin typeface="Arial"/>
              </a:rPr>
              <a:t>2×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81831"/>
            <a:ext cx="3657600" cy="975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the deposit, at most, in damages for a willful violation, on top of returning 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039112"/>
            <a:ext cx="0" cy="3054095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074920" y="203911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Forfeiture.</a:t>
            </a:r>
            <a:r>
              <a:rPr sz="1800" b="0">
                <a:solidFill>
                  <a:srgbClr val="15202B"/>
                </a:solidFill>
                <a:latin typeface="Arial"/>
              </a:rPr>
              <a:t> A missed statement loses any right to keep the deposit. Intent does not matter.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274320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074920" y="286207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Burden.</a:t>
            </a:r>
            <a:r>
              <a:rPr sz="1800" b="0">
                <a:solidFill>
                  <a:srgbClr val="15202B"/>
                </a:solidFill>
                <a:latin typeface="Arial"/>
              </a:rPr>
              <a:t> In a dispute, the landlord proves each amount kept was reasonable.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356616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074920" y="368503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Willful.</a:t>
            </a:r>
            <a:r>
              <a:rPr sz="1800" b="0">
                <a:solidFill>
                  <a:srgbClr val="15202B"/>
                </a:solidFill>
                <a:latin typeface="Arial"/>
              </a:rPr>
              <a:t> A court finds it on the record. A manager is held to know the rule; an honest process error is not willful.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74920" y="438912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074920" y="450799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The debt survives.</a:t>
            </a:r>
            <a:r>
              <a:rPr sz="1800" b="0">
                <a:solidFill>
                  <a:srgbClr val="15202B"/>
                </a:solidFill>
                <a:latin typeface="Arial"/>
              </a:rPr>
              <a:t> Proven rent and damage can still be claimed separately.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477255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45896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Handoff keeps the day-14 clock in front of the coordinator that books the vendor 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STEP 6 · BALANCE</a:t>
            </a:r>
          </a:p>
        </p:txBody>
      </p:sp>
      <p:sp>
        <p:nvSpPr>
          <p:cNvPr id="3" name="Oval 2"/>
          <p:cNvSpPr/>
          <p:nvPr/>
        </p:nvSpPr>
        <p:spPr>
          <a:xfrm>
            <a:off x="943935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93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0511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511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7087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87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53663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663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902391" y="457200"/>
            <a:ext cx="237744" cy="237744"/>
          </a:xfrm>
          <a:prstGeom prst="ellipse">
            <a:avLst/>
          </a:prstGeom>
          <a:noFill/>
          <a:ln w="12700">
            <a:solidFill>
              <a:srgbClr val="D9DD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239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1268151" y="457200"/>
            <a:ext cx="237744" cy="23774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68151" y="457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744286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balance beyond the deposit is a lease claim, and who collects it decides the 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CPLR §§ 213(2), 5001, 5004; 15 U.S.C. § 1692a(6); NYC Admin. Code § 20-489; N.Y. Real Prop. Law § 440(1); NYC DCWP debt-collection rule (6 RCNY 5-76, 5-77).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39112"/>
            <a:ext cx="675101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THE LAW REQUIRES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17064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Time and interest.</a:t>
            </a:r>
            <a:r>
              <a:rPr sz="1800" b="0">
                <a:solidFill>
                  <a:srgbClr val="15202B"/>
                </a:solidFill>
                <a:latin typeface="Arial"/>
              </a:rPr>
              <a:t> Six years to sue today. Interest runs at 2% a year when the tenant is a person, 9% for a company.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12008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3221736"/>
            <a:ext cx="675101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The owner collecting.</a:t>
            </a:r>
            <a:r>
              <a:rPr sz="1800" b="0">
                <a:solidFill>
                  <a:srgbClr val="15202B"/>
                </a:solidFill>
                <a:latin typeface="Arial"/>
              </a:rPr>
              <a:t> Not a federal debt collector. City rules limit its staff's contacts once collection begins, and tighten in 2027.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916680"/>
            <a:ext cx="675101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" y="4026408"/>
            <a:ext cx="6751015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A third party collecting.</a:t>
            </a:r>
            <a:r>
              <a:rPr sz="1800" b="0">
                <a:solidFill>
                  <a:srgbClr val="15202B"/>
                </a:solidFill>
                <a:latin typeface="Arial"/>
              </a:rPr>
              <a:t> Federal debt-collection rules apply after default. An agency needs a city license. Collecting rent for another for a fee needs a broker's license.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9735" y="2039112"/>
            <a:ext cx="3566160" cy="3083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9735" y="2039112"/>
            <a:ext cx="35661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055" y="2313432"/>
            <a:ext cx="301752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HANDOFF HANDLES 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4055" y="2673096"/>
            <a:ext cx="3017520" cy="217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Recommends whether to pursue, hand off or write off a balance, and shows the net recovery.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owner or licensed manager sends the demand and receives the payment.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Worked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8046720" cy="35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Three move-outs, and what the law and Handoff do with 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Settling a NYC move-out   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EXAMPLE 1 · THE DEADLINE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987473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Vacated Friday, December 11, 2026: the statement is due Monday, December 28.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General Construction Law §§ 20, 24, 25-a; N.Y. Gen. Oblig. Law § 7-108(1-a)(e).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FRI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03911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SUN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7B8591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43230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7B8591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75304" y="2916936"/>
            <a:ext cx="640080" cy="438912"/>
          </a:xfrm>
          <a:prstGeom prst="roundRect">
            <a:avLst>
              <a:gd name="adj" fmla="val 8333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2916936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16382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1768" y="2916936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29443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16382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5608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5608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62072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62072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62072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75304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75304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75304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88536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88536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01768" y="3429000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01768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01768" y="3675887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41879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10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35608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5608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35608" y="41879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11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48840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48840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40" y="41879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12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62072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62072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62072" y="41879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15202B"/>
                </a:solidFill>
                <a:latin typeface="Arial"/>
              </a:rPr>
              <a:t>day 13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575304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75304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75304" y="418795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>
                <a:solidFill>
                  <a:srgbClr val="C2410C"/>
                </a:solidFill>
                <a:latin typeface="Arial"/>
              </a:rPr>
              <a:t>day 14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88536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88536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26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01768" y="3941063"/>
            <a:ext cx="640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01768" y="39684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27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2376" y="4453128"/>
            <a:ext cx="640080" cy="438912"/>
          </a:xfrm>
          <a:prstGeom prst="roundRect">
            <a:avLst>
              <a:gd name="adj" fmla="val 8333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2376" y="4480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5608" y="4480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29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8840" y="4480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62072" y="4480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15202B"/>
                </a:solidFill>
                <a:latin typeface="Arial"/>
              </a:rPr>
              <a:t>31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5157216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3271" y="5111496"/>
            <a:ext cx="79097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Vacated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154680" y="5157216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D3D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02152" y="5111496"/>
            <a:ext cx="81407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Counted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5800" y="5468112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3271" y="5422392"/>
            <a:ext cx="18313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Holiday or weekend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154680" y="5468112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02152" y="5422392"/>
            <a:ext cx="4191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Due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18504" y="2039112"/>
            <a:ext cx="518739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Day 0.</a:t>
            </a:r>
            <a:r>
              <a:rPr sz="1800" b="0">
                <a:solidFill>
                  <a:srgbClr val="15202B"/>
                </a:solidFill>
                <a:latin typeface="Arial"/>
              </a:rPr>
              <a:t> The tenant vacates on Friday, December 11. The move-out day is not counted.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318504" y="2734056"/>
            <a:ext cx="5187391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6" name="TextBox 85"/>
          <p:cNvSpPr txBox="1"/>
          <p:nvPr/>
        </p:nvSpPr>
        <p:spPr>
          <a:xfrm>
            <a:off x="6318504" y="2843784"/>
            <a:ext cx="518739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Day 14.</a:t>
            </a:r>
            <a:r>
              <a:rPr sz="1800" b="0">
                <a:solidFill>
                  <a:srgbClr val="15202B"/>
                </a:solidFill>
                <a:latin typeface="Arial"/>
              </a:rPr>
              <a:t> Friday, December 25, a public holiday. Saturday and Sunday follow.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318504" y="3538728"/>
            <a:ext cx="5187391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6318504" y="3648456"/>
            <a:ext cx="518739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Due.</a:t>
            </a:r>
            <a:r>
              <a:rPr sz="1800" b="0">
                <a:solidFill>
                  <a:srgbClr val="15202B"/>
                </a:solidFill>
                <a:latin typeface="Arial"/>
              </a:rPr>
              <a:t> Monday, December 28, the next business day.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318504" y="4343400"/>
            <a:ext cx="5187391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318504" y="4453128"/>
            <a:ext cx="518739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Handoff.</a:t>
            </a:r>
            <a:r>
              <a:rPr sz="1800" b="0">
                <a:solidFill>
                  <a:srgbClr val="15202B"/>
                </a:solidFill>
                <a:latin typeface="Arial"/>
              </a:rPr>
              <a:t> Sets the date in code and schedules vendor evidence to land by about day 10.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EXAMPLE 2 · A REPAINTING 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9521683" cy="434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painting invoice is not proof of damage.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illustrative amounts; NYC Admin. Code § 27-2013(a), (b)(2); N.Y. Gen. Oblig. Law § 7-108(1-a)(b).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4772"/>
            <a:ext cx="3301898" cy="3503168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4772"/>
            <a:ext cx="3301898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9091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MOVE-OUT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8756"/>
            <a:ext cx="2844698" cy="2302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A tenant leaves a walk-up after three years.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The painter bills $1,400 to repaint the unit.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tenant painted one bedroom dark red. It needs two extra coats.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0850" y="3356356"/>
            <a:ext cx="365760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4444898" y="1604772"/>
            <a:ext cx="3301898" cy="3503168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604772"/>
            <a:ext cx="3301898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1879091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238756"/>
            <a:ext cx="2844698" cy="25948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In a multiple dwelling, the owner repaints every three years.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Repainting after ordinary use is wear and tear.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Only damage beyond that is charged, at the cost of the extra work.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9948" y="3356356"/>
            <a:ext cx="365760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8203996" y="1604772"/>
            <a:ext cx="3301898" cy="3503168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3996" y="1604772"/>
            <a:ext cx="3301898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2596" y="1879091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238756"/>
            <a:ext cx="2844698" cy="2302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Charged: two extra coats in one bedroom, $220, with the invoice line and photos.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Not charged: the $1,400 repaint.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manager sees the basis on the 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EXAMPLE 3 · CO-TENANTS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35247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Two co-tenants: one statement each, and the refund follows who paid.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illustrative amounts; Handoff reading of N.Y. Gen. Oblig. Law §§ 7-103(1), 7-108(1-a)(e) and N.Y. General Construction Law § 35.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39112"/>
            <a:ext cx="3301898" cy="379577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39112"/>
            <a:ext cx="3301898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MOVE-OUT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3096"/>
            <a:ext cx="2844698" cy="2302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Two co-tenants paid a $3,000 deposit, $1,500 each, as the landlord's records show.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One leaves in month 8. The other leaves at lease end.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Lawful deductions: $400.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0850" y="3937000"/>
            <a:ext cx="365760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4444898" y="2039112"/>
            <a:ext cx="3301898" cy="379577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2039112"/>
            <a:ext cx="3301898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13432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3096"/>
            <a:ext cx="2844698" cy="288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The 14-day clock starts when the last co-tenant leaves.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Each co-tenant gets a statement.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With records of who paid what, the rest is split in proportion. Without them, the refund is joint.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9948" y="3937000"/>
            <a:ext cx="365760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8203996" y="2039112"/>
            <a:ext cx="3301898" cy="379577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3996" y="2039112"/>
            <a:ext cx="3301898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2596" y="2313432"/>
            <a:ext cx="284469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673096"/>
            <a:ext cx="2844698" cy="25948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No statement in month 8.</a:t>
            </a:r>
          </a:p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Within 14 days of the second move-out: a statement and $1,300 to each.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Paying all $2,600 to one would not release the landlord toward the 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How Handoff handles 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8046720" cy="35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Who sets what in a settlement, and what the manager sees.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Settling a NYC move-out   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DIVISION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873235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Code sets the dates and amounts. A narrow model answers judgment questions. The manager 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39112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039112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39112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Day 14 with rollover, the deposit cap, interest, barred 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07208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Judgment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807208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807208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Wear and tear or damage? Noted at move-in? Does the invoice cover 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75303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3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Coordinator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575303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575303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Gathers evidence, books vendors before day 14, drafts the statement.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343400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4343400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Accepts or changes the whole account once.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85816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6752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judgment never sets an amount or a date, and never discounts a charge.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WHAT THE MANAGER 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95027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Every line on the account shows its rule, evidence, judgment and arithmetic.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illustrative amounts.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39112"/>
            <a:ext cx="10820095" cy="658368"/>
          </a:xfrm>
          <a:prstGeom prst="roundRect">
            <a:avLst>
              <a:gd name="adj" fmla="val 6944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807689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Bedroom repaint, two extra coats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2039112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3328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$220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5441" y="2697480"/>
            <a:ext cx="0" cy="365760"/>
          </a:xfrm>
          <a:prstGeom prst="line">
            <a:avLst/>
          </a:prstGeom>
          <a:ln w="15875">
            <a:solidFill>
              <a:srgbClr val="7B8591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685800" y="3063240"/>
            <a:ext cx="2499283" cy="229819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63240"/>
            <a:ext cx="2499283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19272"/>
            <a:ext cx="209694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42360"/>
            <a:ext cx="2096947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Damage beyond normal wear and tear. Gen. Oblig. Law § 7-108(1-a)(b).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045" y="2697480"/>
            <a:ext cx="0" cy="365760"/>
          </a:xfrm>
          <a:prstGeom prst="line">
            <a:avLst/>
          </a:prstGeom>
          <a:ln w="15875">
            <a:solidFill>
              <a:srgbClr val="7B8591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3459403" y="3063240"/>
            <a:ext cx="2499283" cy="229819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403" y="3063240"/>
            <a:ext cx="2499283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0571" y="3319272"/>
            <a:ext cx="209694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0571" y="3642360"/>
            <a:ext cx="2096947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Move-in record: walls white. Move-out photos. Invoice line 3.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82649" y="2697480"/>
            <a:ext cx="0" cy="365760"/>
          </a:xfrm>
          <a:prstGeom prst="line">
            <a:avLst/>
          </a:prstGeom>
          <a:ln w="15875">
            <a:solidFill>
              <a:srgbClr val="7B8591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6233007" y="3063240"/>
            <a:ext cx="2499283" cy="229819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3063240"/>
            <a:ext cx="2499283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4175" y="3319272"/>
            <a:ext cx="209694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JUDGMENT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3642360"/>
            <a:ext cx="2096947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Tenant damage: a color that needs extra coats.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56253" y="2697480"/>
            <a:ext cx="0" cy="365760"/>
          </a:xfrm>
          <a:prstGeom prst="line">
            <a:avLst/>
          </a:prstGeom>
          <a:ln w="15875">
            <a:solidFill>
              <a:srgbClr val="7B8591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9006611" y="3063240"/>
            <a:ext cx="2499283" cy="229819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611" y="3063240"/>
            <a:ext cx="2499283" cy="457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7779" y="3319272"/>
            <a:ext cx="209694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ARITHMETIC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779" y="3642360"/>
            <a:ext cx="2096947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Two coats at $110 each: $220, kept from a $2,800 deposit.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TODAY AND IN THE 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23824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turn runs today. The pilot adds the settlement for New York City market-rate 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Settling a NYC move-out   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39112"/>
            <a:ext cx="5204307" cy="3093719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39112"/>
            <a:ext cx="5204307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465566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RUNS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99944"/>
            <a:ext cx="4655667" cy="365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2400" b="0">
                <a:solidFill>
                  <a:srgbClr val="15202B"/>
                </a:solidFill>
                <a:latin typeface="Georgia"/>
              </a:rPr>
              <a:t>The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94304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Work.</a:t>
            </a:r>
            <a:r>
              <a:rPr sz="1800" b="0">
                <a:solidFill>
                  <a:srgbClr val="15202B"/>
                </a:solidFill>
                <a:latin typeface="Arial"/>
              </a:rPr>
              <a:t> Notice, plan, vendor quotes, approval, visits, reports, invoices and payment.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880103"/>
            <a:ext cx="465566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960120" y="3980687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Records.</a:t>
            </a:r>
            <a:r>
              <a:rPr sz="1800" b="0">
                <a:solidFill>
                  <a:srgbClr val="15202B"/>
                </a:solidFill>
                <a:latin typeface="Arial"/>
              </a:rPr>
              <a:t> Parties, dates, unit condition, invoices and exact amounts.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587" y="2039112"/>
            <a:ext cx="5204307" cy="3093719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1587" y="2039112"/>
            <a:ext cx="5204307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5907" y="2313432"/>
            <a:ext cx="465566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DELIVERED IN THE 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907" y="2599944"/>
            <a:ext cx="4655667" cy="365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2400" b="0">
                <a:solidFill>
                  <a:srgbClr val="15202B"/>
                </a:solidFill>
                <a:latin typeface="Georgia"/>
              </a:rPr>
              <a:t>The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5907" y="3194304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Checks.</a:t>
            </a:r>
            <a:r>
              <a:rPr sz="1800" b="0">
                <a:solidFill>
                  <a:srgbClr val="15202B"/>
                </a:solidFill>
                <a:latin typeface="Arial"/>
              </a:rPr>
              <a:t> The building facts, the deposit and its interest, and the barred charges.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75907" y="3880103"/>
            <a:ext cx="465566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575907" y="3980687"/>
            <a:ext cx="4655667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Account.</a:t>
            </a:r>
            <a:r>
              <a:rPr sz="1800" b="0">
                <a:solidFill>
                  <a:srgbClr val="15202B"/>
                </a:solidFill>
                <a:latin typeface="Arial"/>
              </a:rPr>
              <a:t> The account, the statement and refund by day 14, and advice on any balance.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16880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98592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Stabilized and rent-controlled units go to the manager.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